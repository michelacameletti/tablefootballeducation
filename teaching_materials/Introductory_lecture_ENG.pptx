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8" r:id="rId2"/>
    <p:sldId id="257" r:id="rId3"/>
    <p:sldId id="258" r:id="rId4"/>
    <p:sldId id="259" r:id="rId5"/>
    <p:sldId id="260" r:id="rId6"/>
    <p:sldId id="284" r:id="rId7"/>
    <p:sldId id="285" r:id="rId8"/>
    <p:sldId id="262" r:id="rId9"/>
    <p:sldId id="286" r:id="rId10"/>
    <p:sldId id="28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8288000" cy="10287000"/>
  <p:notesSz cx="6858000" cy="9144000"/>
  <p:embeddedFontLst>
    <p:embeddedFont>
      <p:font typeface="Archive" panose="02000506040000020004" pitchFamily="2" charset="0"/>
      <p:regular r:id="rId30"/>
    </p:embeddedFont>
    <p:embeddedFont>
      <p:font typeface="Blueberry Outline" panose="02000500000000000000" pitchFamily="2" charset="0"/>
      <p:regular r:id="rId31"/>
    </p:embeddedFont>
    <p:embeddedFont>
      <p:font typeface="Borel" pitchFamily="2" charset="0"/>
      <p:regular r:id="rId32"/>
    </p:embeddedFont>
    <p:embeddedFont>
      <p:font typeface="Canva Sans" panose="020B0503030501040103"/>
      <p:regular r:id="rId33"/>
    </p:embeddedFont>
    <p:embeddedFont>
      <p:font typeface="Canva Sans Bold" panose="020B0803030501040103"/>
      <p:regular r:id="rId34"/>
      <p:bold r:id="rId35"/>
    </p:embeddedFont>
    <p:embeddedFont>
      <p:font typeface="Frankfurter Highlight" panose="020F0604020204080C04" pitchFamily="34" charset="77"/>
      <p:regular r:id="rId36"/>
    </p:embeddedFont>
    <p:embeddedFont>
      <p:font typeface="Rubik" pitchFamily="2" charset="-79"/>
      <p:regular r:id="rId37"/>
      <p:bold r:id="rId38"/>
      <p:italic r:id="rId39"/>
      <p:boldItalic r:id="rId40"/>
    </p:embeddedFont>
    <p:embeddedFont>
      <p:font typeface="Rubik Bold" pitchFamily="2" charset="-79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8" autoAdjust="0"/>
  </p:normalViewPr>
  <p:slideViewPr>
    <p:cSldViewPr>
      <p:cViewPr varScale="1">
        <p:scale>
          <a:sx n="80" d="100"/>
          <a:sy n="80" d="100"/>
        </p:scale>
        <p:origin x="4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9.svg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514600" y="792831"/>
            <a:ext cx="13258800" cy="3424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latin typeface="Canva Sans Bold"/>
                <a:ea typeface="Canva Sans Bold"/>
                <a:cs typeface="Canva Sans Bold"/>
                <a:sym typeface="Canva Sans Bold"/>
              </a:rPr>
              <a:t>Statistics in play:</a:t>
            </a:r>
          </a:p>
          <a:p>
            <a:pPr algn="ctr">
              <a:lnSpc>
                <a:spcPts val="9100"/>
              </a:lnSpc>
            </a:pPr>
            <a:r>
              <a:rPr lang="en-US" sz="6500" b="1" dirty="0">
                <a:latin typeface="Canva Sans Bold"/>
                <a:ea typeface="Canva Sans Bold"/>
                <a:cs typeface="Canva Sans Bold"/>
                <a:sym typeface="Canva Sans Bold"/>
              </a:rPr>
              <a:t>kick things off!</a:t>
            </a:r>
          </a:p>
          <a:p>
            <a:pPr algn="ctr">
              <a:lnSpc>
                <a:spcPts val="9100"/>
              </a:lnSpc>
            </a:pPr>
            <a:endParaRPr lang="en-US" sz="6500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105400" y="3619500"/>
            <a:ext cx="8534400" cy="5712215"/>
          </a:xfrm>
          <a:custGeom>
            <a:avLst/>
            <a:gdLst/>
            <a:ahLst/>
            <a:cxnLst/>
            <a:rect l="l" t="t" r="r" b="b"/>
            <a:pathLst>
              <a:path w="5215541" h="3474854">
                <a:moveTo>
                  <a:pt x="0" y="0"/>
                </a:moveTo>
                <a:lnTo>
                  <a:pt x="5215541" y="0"/>
                </a:lnTo>
                <a:lnTo>
                  <a:pt x="5215541" y="3474854"/>
                </a:lnTo>
                <a:lnTo>
                  <a:pt x="0" y="347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438919" y="553477"/>
            <a:ext cx="11410163" cy="3979294"/>
          </a:xfrm>
          <a:custGeom>
            <a:avLst/>
            <a:gdLst/>
            <a:ahLst/>
            <a:cxnLst/>
            <a:rect l="l" t="t" r="r" b="b"/>
            <a:pathLst>
              <a:path w="11410163" h="3979294">
                <a:moveTo>
                  <a:pt x="0" y="0"/>
                </a:moveTo>
                <a:lnTo>
                  <a:pt x="11410162" y="0"/>
                </a:lnTo>
                <a:lnTo>
                  <a:pt x="11410162" y="3979294"/>
                </a:lnTo>
                <a:lnTo>
                  <a:pt x="0" y="3979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30359" y="4881776"/>
            <a:ext cx="6595914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Today's 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0763" y="6084086"/>
            <a:ext cx="9868237" cy="1460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6788" lvl="1" indent="-453394" algn="l">
              <a:lnSpc>
                <a:spcPts val="5880"/>
              </a:lnSpc>
              <a:buAutoNum type="arabicPeriod"/>
            </a:pPr>
            <a:r>
              <a:rPr lang="en-US" sz="42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Short theoretical introduction</a:t>
            </a:r>
          </a:p>
          <a:p>
            <a:pPr marL="906788" lvl="1" indent="-453394" algn="l">
              <a:lnSpc>
                <a:spcPts val="5880"/>
              </a:lnSpc>
              <a:buAutoNum type="arabicPeriod"/>
            </a:pPr>
            <a:r>
              <a:rPr lang="en-US" sz="42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Table football practical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884023" y="2103025"/>
            <a:ext cx="5143500" cy="4114800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2907824" y="6411781"/>
            <a:ext cx="2636209" cy="2188053"/>
          </a:xfrm>
          <a:custGeom>
            <a:avLst/>
            <a:gdLst/>
            <a:ahLst/>
            <a:cxnLst/>
            <a:rect l="l" t="t" r="r" b="b"/>
            <a:pathLst>
              <a:path w="2636209" h="2188053">
                <a:moveTo>
                  <a:pt x="0" y="0"/>
                </a:moveTo>
                <a:lnTo>
                  <a:pt x="2636209" y="0"/>
                </a:lnTo>
                <a:lnTo>
                  <a:pt x="2636209" y="2188053"/>
                </a:lnTo>
                <a:lnTo>
                  <a:pt x="0" y="2188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4748429" y="1980742"/>
            <a:ext cx="4424879" cy="6203102"/>
          </a:xfrm>
          <a:custGeom>
            <a:avLst/>
            <a:gdLst/>
            <a:ahLst/>
            <a:cxnLst/>
            <a:rect l="l" t="t" r="r" b="b"/>
            <a:pathLst>
              <a:path w="4424879" h="6203102">
                <a:moveTo>
                  <a:pt x="0" y="0"/>
                </a:moveTo>
                <a:lnTo>
                  <a:pt x="4424879" y="0"/>
                </a:lnTo>
                <a:lnTo>
                  <a:pt x="4424879" y="6203102"/>
                </a:lnTo>
                <a:lnTo>
                  <a:pt x="0" y="6203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0" y="391160"/>
            <a:ext cx="12039600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Pre-laboratory questionnaire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75259" y="3427510"/>
            <a:ext cx="2571218" cy="179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dirty="0">
                <a:solidFill>
                  <a:srgbClr val="3461AA"/>
                </a:solidFill>
                <a:latin typeface="Rubik"/>
                <a:ea typeface="Rubik"/>
                <a:cs typeface="Rubik"/>
                <a:sym typeface="Rubik"/>
              </a:rPr>
              <a:t>Insert the survey QR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67219" y="1994236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391160"/>
            <a:ext cx="545145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23794" y="2808399"/>
            <a:ext cx="9907598" cy="93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Consider tossing a fair coin.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1547" y="4553940"/>
            <a:ext cx="883209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probability of getting HEADS is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67219" y="1994236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391160"/>
            <a:ext cx="545145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1547" y="4553940"/>
            <a:ext cx="883209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probability of getting HEADS is ...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0" y="7581900"/>
            <a:ext cx="6013921" cy="76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p(HEADS)=1/2=0.5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93CC65A-00CF-97F2-6937-5A21815CC9C0}"/>
              </a:ext>
            </a:extLst>
          </p:cNvPr>
          <p:cNvSpPr txBox="1"/>
          <p:nvPr/>
        </p:nvSpPr>
        <p:spPr>
          <a:xfrm>
            <a:off x="6223794" y="2808399"/>
            <a:ext cx="9907598" cy="93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Consider tossing a fair coin.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63638-95C4-55CD-E82C-EA2C7DFF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12B341B-1715-C827-E8B8-E91556EE3DB6}"/>
              </a:ext>
            </a:extLst>
          </p:cNvPr>
          <p:cNvSpPr/>
          <p:nvPr/>
        </p:nvSpPr>
        <p:spPr>
          <a:xfrm>
            <a:off x="767219" y="1994236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B607BC2-638F-DD58-FB89-345A6B6E5A6A}"/>
              </a:ext>
            </a:extLst>
          </p:cNvPr>
          <p:cNvSpPr txBox="1"/>
          <p:nvPr/>
        </p:nvSpPr>
        <p:spPr>
          <a:xfrm>
            <a:off x="0" y="391160"/>
            <a:ext cx="545145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221A0BB-4909-09F3-118F-C6EC39847EEF}"/>
              </a:ext>
            </a:extLst>
          </p:cNvPr>
          <p:cNvSpPr txBox="1"/>
          <p:nvPr/>
        </p:nvSpPr>
        <p:spPr>
          <a:xfrm>
            <a:off x="6761547" y="4553940"/>
            <a:ext cx="883209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probability of getting HEADS is ...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BF15B76-546A-56AC-7F5C-0219D6123B9D}"/>
              </a:ext>
            </a:extLst>
          </p:cNvPr>
          <p:cNvSpPr txBox="1"/>
          <p:nvPr/>
        </p:nvSpPr>
        <p:spPr>
          <a:xfrm>
            <a:off x="7620000" y="7581900"/>
            <a:ext cx="6013921" cy="76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p(HEADS)=1/2=0.5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7F77534-F571-68FC-0370-B3E83CE9E5A6}"/>
              </a:ext>
            </a:extLst>
          </p:cNvPr>
          <p:cNvSpPr txBox="1"/>
          <p:nvPr/>
        </p:nvSpPr>
        <p:spPr>
          <a:xfrm>
            <a:off x="6223794" y="2808399"/>
            <a:ext cx="9907598" cy="93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Consider tossing a fair coin.</a:t>
            </a:r>
          </a:p>
        </p:txBody>
      </p:sp>
    </p:spTree>
    <p:extLst>
      <p:ext uri="{BB962C8B-B14F-4D97-AF65-F5344CB8AC3E}">
        <p14:creationId xmlns:p14="http://schemas.microsoft.com/office/powerpoint/2010/main" val="184830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1B9D-08C7-42F0-99A5-0C1C1FC7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1B8983B-2614-4F85-9169-62FC733334C9}"/>
              </a:ext>
            </a:extLst>
          </p:cNvPr>
          <p:cNvSpPr/>
          <p:nvPr/>
        </p:nvSpPr>
        <p:spPr>
          <a:xfrm>
            <a:off x="767219" y="1994236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6F0FA75-0C5D-5252-F35A-F7EDEDCBF0F3}"/>
              </a:ext>
            </a:extLst>
          </p:cNvPr>
          <p:cNvSpPr txBox="1"/>
          <p:nvPr/>
        </p:nvSpPr>
        <p:spPr>
          <a:xfrm>
            <a:off x="0" y="391160"/>
            <a:ext cx="545145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177187C-5554-162F-7C5C-585B100F9EF9}"/>
              </a:ext>
            </a:extLst>
          </p:cNvPr>
          <p:cNvSpPr txBox="1"/>
          <p:nvPr/>
        </p:nvSpPr>
        <p:spPr>
          <a:xfrm>
            <a:off x="6761547" y="4553940"/>
            <a:ext cx="883209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probability of getting HEADS is ...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31FBCD6-84A4-986D-A9C8-65D780ADB462}"/>
              </a:ext>
            </a:extLst>
          </p:cNvPr>
          <p:cNvSpPr txBox="1"/>
          <p:nvPr/>
        </p:nvSpPr>
        <p:spPr>
          <a:xfrm>
            <a:off x="7620000" y="7581900"/>
            <a:ext cx="6013921" cy="76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p(HEADS)=1/2=0.5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5BA07985-5F4F-FF31-B4EC-C4CB41C1ACD5}"/>
              </a:ext>
            </a:extLst>
          </p:cNvPr>
          <p:cNvSpPr txBox="1"/>
          <p:nvPr/>
        </p:nvSpPr>
        <p:spPr>
          <a:xfrm>
            <a:off x="6223794" y="2808399"/>
            <a:ext cx="9907598" cy="93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Consider tossing a fair coin.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4DC2FF7-0FE4-DAF0-14B0-A1DA867CEE61}"/>
              </a:ext>
            </a:extLst>
          </p:cNvPr>
          <p:cNvSpPr txBox="1"/>
          <p:nvPr/>
        </p:nvSpPr>
        <p:spPr>
          <a:xfrm>
            <a:off x="1398092" y="6638427"/>
            <a:ext cx="5467528" cy="232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sz="3290" dirty="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Probability as the ratio between</a:t>
            </a:r>
          </a:p>
          <a:p>
            <a:pPr algn="ctr">
              <a:lnSpc>
                <a:spcPts val="4607"/>
              </a:lnSpc>
              <a:spcBef>
                <a:spcPct val="0"/>
              </a:spcBef>
            </a:pPr>
            <a:r>
              <a:rPr lang="en-US" sz="3290" dirty="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favorable outcomes and possible outcomes</a:t>
            </a:r>
          </a:p>
        </p:txBody>
      </p:sp>
    </p:spTree>
    <p:extLst>
      <p:ext uri="{BB962C8B-B14F-4D97-AF65-F5344CB8AC3E}">
        <p14:creationId xmlns:p14="http://schemas.microsoft.com/office/powerpoint/2010/main" val="2586361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90858" y="29108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90858" y="391160"/>
            <a:ext cx="4514542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81005" y="1624639"/>
            <a:ext cx="9809009" cy="93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Consider rolling a fair DIE.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6347" y="4081792"/>
            <a:ext cx="7938326" cy="294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probability of rolling a 4 is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EE9E8-8851-333F-D550-027D4DC2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33C3E71-88D1-E14D-BB47-45CD9624CBE1}"/>
              </a:ext>
            </a:extLst>
          </p:cNvPr>
          <p:cNvSpPr/>
          <p:nvPr/>
        </p:nvSpPr>
        <p:spPr>
          <a:xfrm>
            <a:off x="590858" y="29108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CB01CF2-C87B-10B2-3E1D-07BE533B8509}"/>
              </a:ext>
            </a:extLst>
          </p:cNvPr>
          <p:cNvSpPr txBox="1"/>
          <p:nvPr/>
        </p:nvSpPr>
        <p:spPr>
          <a:xfrm>
            <a:off x="590858" y="391160"/>
            <a:ext cx="4514542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B7A8FE8-66E8-599F-3D93-43EB2F22D2C5}"/>
              </a:ext>
            </a:extLst>
          </p:cNvPr>
          <p:cNvSpPr txBox="1"/>
          <p:nvPr/>
        </p:nvSpPr>
        <p:spPr>
          <a:xfrm>
            <a:off x="6381005" y="1624639"/>
            <a:ext cx="9809009" cy="93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Consider rolling a fair DIE.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66952AE-0DC5-AFE3-B70A-BD4893AA5AA8}"/>
              </a:ext>
            </a:extLst>
          </p:cNvPr>
          <p:cNvSpPr txBox="1"/>
          <p:nvPr/>
        </p:nvSpPr>
        <p:spPr>
          <a:xfrm>
            <a:off x="7316347" y="4081792"/>
            <a:ext cx="7938326" cy="294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probability of rolling a 4 is ...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6CFDED-6008-52FC-D699-567061C16D05}"/>
              </a:ext>
            </a:extLst>
          </p:cNvPr>
          <p:cNvSpPr txBox="1"/>
          <p:nvPr/>
        </p:nvSpPr>
        <p:spPr>
          <a:xfrm>
            <a:off x="9944807" y="7848716"/>
            <a:ext cx="232395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p(4)=1/6</a:t>
            </a:r>
          </a:p>
        </p:txBody>
      </p:sp>
    </p:spTree>
    <p:extLst>
      <p:ext uri="{BB962C8B-B14F-4D97-AF65-F5344CB8AC3E}">
        <p14:creationId xmlns:p14="http://schemas.microsoft.com/office/powerpoint/2010/main" val="223061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0CB5-EF09-0166-AD25-BC7C9C35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FE6E9AB-1844-8616-EBAB-1ACBBFFC1BEC}"/>
              </a:ext>
            </a:extLst>
          </p:cNvPr>
          <p:cNvSpPr/>
          <p:nvPr/>
        </p:nvSpPr>
        <p:spPr>
          <a:xfrm>
            <a:off x="590858" y="29108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6254404-D1FE-E119-9819-B1978945F880}"/>
              </a:ext>
            </a:extLst>
          </p:cNvPr>
          <p:cNvSpPr txBox="1"/>
          <p:nvPr/>
        </p:nvSpPr>
        <p:spPr>
          <a:xfrm>
            <a:off x="590858" y="391160"/>
            <a:ext cx="4514542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8A9CF6B-AB33-7DB5-475F-8F1EE500A864}"/>
              </a:ext>
            </a:extLst>
          </p:cNvPr>
          <p:cNvSpPr txBox="1"/>
          <p:nvPr/>
        </p:nvSpPr>
        <p:spPr>
          <a:xfrm>
            <a:off x="6381005" y="1624639"/>
            <a:ext cx="9809009" cy="93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Consider rolling a fair DIE.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6E3D3F-C69F-9D20-71AC-00ED229A430C}"/>
              </a:ext>
            </a:extLst>
          </p:cNvPr>
          <p:cNvSpPr txBox="1"/>
          <p:nvPr/>
        </p:nvSpPr>
        <p:spPr>
          <a:xfrm>
            <a:off x="7316347" y="4081792"/>
            <a:ext cx="7938326" cy="294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probability of rolling a 4 is ...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4F3D739-5759-7DA9-1EEF-1ABA219DA427}"/>
              </a:ext>
            </a:extLst>
          </p:cNvPr>
          <p:cNvSpPr txBox="1"/>
          <p:nvPr/>
        </p:nvSpPr>
        <p:spPr>
          <a:xfrm>
            <a:off x="9944807" y="7848716"/>
            <a:ext cx="232395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p(4)=1/6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7C2CEA9-450D-96FC-043A-BED6D5636200}"/>
              </a:ext>
            </a:extLst>
          </p:cNvPr>
          <p:cNvSpPr txBox="1"/>
          <p:nvPr/>
        </p:nvSpPr>
        <p:spPr>
          <a:xfrm>
            <a:off x="13582344" y="7003594"/>
            <a:ext cx="4384032" cy="230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sz="3290" dirty="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Probability as the ratio between</a:t>
            </a:r>
          </a:p>
          <a:p>
            <a:pPr algn="ctr">
              <a:lnSpc>
                <a:spcPts val="4607"/>
              </a:lnSpc>
              <a:spcBef>
                <a:spcPct val="0"/>
              </a:spcBef>
            </a:pPr>
            <a:r>
              <a:rPr lang="en-US" sz="3290" dirty="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favorable outcomes and possible outcomes</a:t>
            </a:r>
          </a:p>
        </p:txBody>
      </p:sp>
    </p:spTree>
    <p:extLst>
      <p:ext uri="{BB962C8B-B14F-4D97-AF65-F5344CB8AC3E}">
        <p14:creationId xmlns:p14="http://schemas.microsoft.com/office/powerpoint/2010/main" val="92255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80281" y="1964510"/>
            <a:ext cx="3104339" cy="3583652"/>
          </a:xfrm>
          <a:custGeom>
            <a:avLst/>
            <a:gdLst/>
            <a:ahLst/>
            <a:cxnLst/>
            <a:rect l="l" t="t" r="r" b="b"/>
            <a:pathLst>
              <a:path w="3104339" h="3583652">
                <a:moveTo>
                  <a:pt x="0" y="0"/>
                </a:moveTo>
                <a:lnTo>
                  <a:pt x="3104338" y="0"/>
                </a:lnTo>
                <a:lnTo>
                  <a:pt x="3104338" y="3583652"/>
                </a:lnTo>
                <a:lnTo>
                  <a:pt x="0" y="3583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789557" y="2292542"/>
            <a:ext cx="990951" cy="990951"/>
          </a:xfrm>
          <a:custGeom>
            <a:avLst/>
            <a:gdLst/>
            <a:ahLst/>
            <a:cxnLst/>
            <a:rect l="l" t="t" r="r" b="b"/>
            <a:pathLst>
              <a:path w="990951" h="990951">
                <a:moveTo>
                  <a:pt x="0" y="0"/>
                </a:moveTo>
                <a:lnTo>
                  <a:pt x="990951" y="0"/>
                </a:lnTo>
                <a:lnTo>
                  <a:pt x="990951" y="990951"/>
                </a:lnTo>
                <a:lnTo>
                  <a:pt x="0" y="990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4789557" y="4703748"/>
            <a:ext cx="990951" cy="990951"/>
          </a:xfrm>
          <a:custGeom>
            <a:avLst/>
            <a:gdLst/>
            <a:ahLst/>
            <a:cxnLst/>
            <a:rect l="l" t="t" r="r" b="b"/>
            <a:pathLst>
              <a:path w="990951" h="990951">
                <a:moveTo>
                  <a:pt x="0" y="0"/>
                </a:moveTo>
                <a:lnTo>
                  <a:pt x="990951" y="0"/>
                </a:lnTo>
                <a:lnTo>
                  <a:pt x="990951" y="990952"/>
                </a:lnTo>
                <a:lnTo>
                  <a:pt x="0" y="990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789557" y="3512644"/>
            <a:ext cx="1019654" cy="1019654"/>
          </a:xfrm>
          <a:custGeom>
            <a:avLst/>
            <a:gdLst/>
            <a:ahLst/>
            <a:cxnLst/>
            <a:rect l="l" t="t" r="r" b="b"/>
            <a:pathLst>
              <a:path w="1019654" h="1019654">
                <a:moveTo>
                  <a:pt x="0" y="0"/>
                </a:moveTo>
                <a:lnTo>
                  <a:pt x="1019654" y="0"/>
                </a:lnTo>
                <a:lnTo>
                  <a:pt x="1019654" y="1019654"/>
                </a:lnTo>
                <a:lnTo>
                  <a:pt x="0" y="1019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0" y="391160"/>
            <a:ext cx="10598768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Conditional probability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37750" y="1330734"/>
            <a:ext cx="9618028" cy="195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7"/>
              </a:lnSpc>
              <a:spcBef>
                <a:spcPct val="0"/>
              </a:spcBef>
            </a:pPr>
            <a:r>
              <a:rPr lang="en-US" sz="561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die roll resulted in an EVEN number.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03088" y="3632511"/>
            <a:ext cx="9252690" cy="394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Given this information, the probability that the outcome is 4 is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80281" y="1964510"/>
            <a:ext cx="3104339" cy="3583652"/>
          </a:xfrm>
          <a:custGeom>
            <a:avLst/>
            <a:gdLst/>
            <a:ahLst/>
            <a:cxnLst/>
            <a:rect l="l" t="t" r="r" b="b"/>
            <a:pathLst>
              <a:path w="3104339" h="3583652">
                <a:moveTo>
                  <a:pt x="0" y="0"/>
                </a:moveTo>
                <a:lnTo>
                  <a:pt x="3104338" y="0"/>
                </a:lnTo>
                <a:lnTo>
                  <a:pt x="3104338" y="3583652"/>
                </a:lnTo>
                <a:lnTo>
                  <a:pt x="0" y="3583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789557" y="2292542"/>
            <a:ext cx="990951" cy="990951"/>
          </a:xfrm>
          <a:custGeom>
            <a:avLst/>
            <a:gdLst/>
            <a:ahLst/>
            <a:cxnLst/>
            <a:rect l="l" t="t" r="r" b="b"/>
            <a:pathLst>
              <a:path w="990951" h="990951">
                <a:moveTo>
                  <a:pt x="0" y="0"/>
                </a:moveTo>
                <a:lnTo>
                  <a:pt x="990951" y="0"/>
                </a:lnTo>
                <a:lnTo>
                  <a:pt x="990951" y="990951"/>
                </a:lnTo>
                <a:lnTo>
                  <a:pt x="0" y="990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4789557" y="4703748"/>
            <a:ext cx="990951" cy="990951"/>
          </a:xfrm>
          <a:custGeom>
            <a:avLst/>
            <a:gdLst/>
            <a:ahLst/>
            <a:cxnLst/>
            <a:rect l="l" t="t" r="r" b="b"/>
            <a:pathLst>
              <a:path w="990951" h="990951">
                <a:moveTo>
                  <a:pt x="0" y="0"/>
                </a:moveTo>
                <a:lnTo>
                  <a:pt x="990951" y="0"/>
                </a:lnTo>
                <a:lnTo>
                  <a:pt x="990951" y="990952"/>
                </a:lnTo>
                <a:lnTo>
                  <a:pt x="0" y="990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789557" y="3512644"/>
            <a:ext cx="1019654" cy="1019654"/>
          </a:xfrm>
          <a:custGeom>
            <a:avLst/>
            <a:gdLst/>
            <a:ahLst/>
            <a:cxnLst/>
            <a:rect l="l" t="t" r="r" b="b"/>
            <a:pathLst>
              <a:path w="1019654" h="1019654">
                <a:moveTo>
                  <a:pt x="0" y="0"/>
                </a:moveTo>
                <a:lnTo>
                  <a:pt x="1019654" y="0"/>
                </a:lnTo>
                <a:lnTo>
                  <a:pt x="1019654" y="1019654"/>
                </a:lnTo>
                <a:lnTo>
                  <a:pt x="0" y="1019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0" y="391160"/>
            <a:ext cx="10598768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Conditional probability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37750" y="1330734"/>
            <a:ext cx="9618028" cy="195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7"/>
              </a:lnSpc>
              <a:spcBef>
                <a:spcPct val="0"/>
              </a:spcBef>
            </a:pPr>
            <a:r>
              <a:rPr lang="en-US" sz="561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die roll resulted in an EVEN number.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03088" y="3632511"/>
            <a:ext cx="9252690" cy="394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Given this information, the probability that the outcome is 4 is ...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7964715"/>
            <a:ext cx="5334000" cy="76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p(4 | EVEN)=1/3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15330" y="3986552"/>
            <a:ext cx="3479802" cy="2979580"/>
          </a:xfrm>
          <a:custGeom>
            <a:avLst/>
            <a:gdLst/>
            <a:ahLst/>
            <a:cxnLst/>
            <a:rect l="l" t="t" r="r" b="b"/>
            <a:pathLst>
              <a:path w="3479802" h="2979580">
                <a:moveTo>
                  <a:pt x="0" y="0"/>
                </a:moveTo>
                <a:lnTo>
                  <a:pt x="3479802" y="0"/>
                </a:lnTo>
                <a:lnTo>
                  <a:pt x="3479802" y="2979581"/>
                </a:lnTo>
                <a:lnTo>
                  <a:pt x="0" y="297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852665" y="4964192"/>
            <a:ext cx="3431450" cy="2432040"/>
          </a:xfrm>
          <a:custGeom>
            <a:avLst/>
            <a:gdLst/>
            <a:ahLst/>
            <a:cxnLst/>
            <a:rect l="l" t="t" r="r" b="b"/>
            <a:pathLst>
              <a:path w="3431450" h="2432040">
                <a:moveTo>
                  <a:pt x="0" y="0"/>
                </a:moveTo>
                <a:lnTo>
                  <a:pt x="3431451" y="0"/>
                </a:lnTo>
                <a:lnTo>
                  <a:pt x="3431451" y="2432040"/>
                </a:lnTo>
                <a:lnTo>
                  <a:pt x="0" y="2432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9739762" y="4596405"/>
            <a:ext cx="7064240" cy="1213140"/>
            <a:chOff x="0" y="0"/>
            <a:chExt cx="1860541" cy="3195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C1FF7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400685"/>
            <a:ext cx="12211054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How many people live in Bergamo?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93054" y="1633281"/>
            <a:ext cx="13629852" cy="273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45"/>
              </a:lnSpc>
            </a:pP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website https://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demo.istat.it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/ provides the resident population of the XXX municipality on 01/01/2026 (by gender and age).</a:t>
            </a:r>
          </a:p>
          <a:p>
            <a:pPr algn="just">
              <a:lnSpc>
                <a:spcPts val="5445"/>
              </a:lnSpc>
            </a:pP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How many do you think there are?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8265" y="4843882"/>
            <a:ext cx="392608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 100,000 people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739762" y="6144044"/>
            <a:ext cx="7064240" cy="1213140"/>
            <a:chOff x="0" y="0"/>
            <a:chExt cx="1860541" cy="319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101218" y="6391522"/>
            <a:ext cx="5853708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100,000 - 200,000 people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739762" y="7691684"/>
            <a:ext cx="7064240" cy="1213140"/>
            <a:chOff x="0" y="0"/>
            <a:chExt cx="1860541" cy="3195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00BF63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135523" y="7939161"/>
            <a:ext cx="399841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&gt; 200,000 people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15330" y="3986552"/>
            <a:ext cx="3479802" cy="2979580"/>
          </a:xfrm>
          <a:custGeom>
            <a:avLst/>
            <a:gdLst/>
            <a:ahLst/>
            <a:cxnLst/>
            <a:rect l="l" t="t" r="r" b="b"/>
            <a:pathLst>
              <a:path w="3479802" h="2979580">
                <a:moveTo>
                  <a:pt x="0" y="0"/>
                </a:moveTo>
                <a:lnTo>
                  <a:pt x="3479802" y="0"/>
                </a:lnTo>
                <a:lnTo>
                  <a:pt x="3479802" y="2979581"/>
                </a:lnTo>
                <a:lnTo>
                  <a:pt x="0" y="297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852665" y="4964192"/>
            <a:ext cx="3431450" cy="2432040"/>
          </a:xfrm>
          <a:custGeom>
            <a:avLst/>
            <a:gdLst/>
            <a:ahLst/>
            <a:cxnLst/>
            <a:rect l="l" t="t" r="r" b="b"/>
            <a:pathLst>
              <a:path w="3431450" h="2432040">
                <a:moveTo>
                  <a:pt x="0" y="0"/>
                </a:moveTo>
                <a:lnTo>
                  <a:pt x="3431451" y="0"/>
                </a:lnTo>
                <a:lnTo>
                  <a:pt x="3431451" y="2432040"/>
                </a:lnTo>
                <a:lnTo>
                  <a:pt x="0" y="2432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9739762" y="4596405"/>
            <a:ext cx="7064240" cy="1213140"/>
            <a:chOff x="0" y="0"/>
            <a:chExt cx="1860541" cy="3195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C1FF7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400685"/>
            <a:ext cx="12211054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How many people live in Bergamo?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93054" y="1633281"/>
            <a:ext cx="13629852" cy="273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45"/>
              </a:lnSpc>
            </a:pP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website https://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demo.istat.it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/ provides the resident population of the XXX municipality on 01/01/2024 (by gender and age).</a:t>
            </a:r>
          </a:p>
          <a:p>
            <a:pPr algn="just">
              <a:lnSpc>
                <a:spcPts val="5445"/>
              </a:lnSpc>
            </a:pP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How many do you think there are?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8265" y="4843882"/>
            <a:ext cx="392608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 100,000 people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739762" y="6144044"/>
            <a:ext cx="7064240" cy="1213140"/>
            <a:chOff x="0" y="0"/>
            <a:chExt cx="1860541" cy="319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08746" y="6391522"/>
            <a:ext cx="5853708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D62028"/>
                </a:solidFill>
                <a:latin typeface="Rubik"/>
                <a:ea typeface="Rubik"/>
                <a:cs typeface="Rubik"/>
                <a:sym typeface="Rubik"/>
              </a:rPr>
              <a:t>100,000 - 200,000 people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739762" y="7691684"/>
            <a:ext cx="7064240" cy="1213140"/>
            <a:chOff x="0" y="0"/>
            <a:chExt cx="1860541" cy="3195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00BF63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135523" y="7939161"/>
            <a:ext cx="399841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&gt; 200,000 people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594" y="7531826"/>
            <a:ext cx="2596455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5600" u="none" strike="noStrike">
                <a:solidFill>
                  <a:srgbClr val="D62028"/>
                </a:solidFill>
                <a:latin typeface="Rubik"/>
                <a:ea typeface="Rubik"/>
                <a:cs typeface="Rubik"/>
                <a:sym typeface="Rubik"/>
              </a:rPr>
              <a:t>120'629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277717" y="2687575"/>
          <a:ext cx="10746840" cy="4911851"/>
        </p:xfrm>
        <a:graphic>
          <a:graphicData uri="http://schemas.openxmlformats.org/drawingml/2006/table">
            <a:tbl>
              <a:tblPr/>
              <a:tblGrid>
                <a:gridCol w="1874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5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4455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132"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132"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132"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634785" y="1559717"/>
            <a:ext cx="3801046" cy="4114800"/>
          </a:xfrm>
          <a:custGeom>
            <a:avLst/>
            <a:gdLst/>
            <a:ahLst/>
            <a:cxnLst/>
            <a:rect l="l" t="t" r="r" b="b"/>
            <a:pathLst>
              <a:path w="3801046" h="4114800">
                <a:moveTo>
                  <a:pt x="0" y="0"/>
                </a:moveTo>
                <a:lnTo>
                  <a:pt x="3801046" y="0"/>
                </a:lnTo>
                <a:lnTo>
                  <a:pt x="38010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Joint frequency distribution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90339" y="1925669"/>
            <a:ext cx="252159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 groups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3623130" y="4842096"/>
            <a:ext cx="207244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40556" y="5728982"/>
            <a:ext cx="1576288" cy="3152576"/>
          </a:xfrm>
          <a:custGeom>
            <a:avLst/>
            <a:gdLst/>
            <a:ahLst/>
            <a:cxnLst/>
            <a:rect l="l" t="t" r="r" b="b"/>
            <a:pathLst>
              <a:path w="1576288" h="3152576">
                <a:moveTo>
                  <a:pt x="0" y="0"/>
                </a:moveTo>
                <a:lnTo>
                  <a:pt x="1576288" y="0"/>
                </a:lnTo>
                <a:lnTo>
                  <a:pt x="1576288" y="3152577"/>
                </a:lnTo>
                <a:lnTo>
                  <a:pt x="0" y="315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Frequency distribution and probability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78113" y="6357632"/>
            <a:ext cx="15151309" cy="574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is the probability that a randomly selected resident is female?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 groups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40556" y="5728982"/>
            <a:ext cx="1576288" cy="3152576"/>
          </a:xfrm>
          <a:custGeom>
            <a:avLst/>
            <a:gdLst/>
            <a:ahLst/>
            <a:cxnLst/>
            <a:rect l="l" t="t" r="r" b="b"/>
            <a:pathLst>
              <a:path w="1576288" h="3152576">
                <a:moveTo>
                  <a:pt x="0" y="0"/>
                </a:moveTo>
                <a:lnTo>
                  <a:pt x="1576288" y="0"/>
                </a:lnTo>
                <a:lnTo>
                  <a:pt x="1576288" y="3152577"/>
                </a:lnTo>
                <a:lnTo>
                  <a:pt x="0" y="315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Frequency distribution and probability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78113" y="6357632"/>
            <a:ext cx="1515130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is the probability that a randomly selected resident of Bergamo is female?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45077" y="7889881"/>
            <a:ext cx="758309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p(F)=62'993/120'629=0.522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 groups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40556" y="5728982"/>
            <a:ext cx="1576288" cy="3152576"/>
          </a:xfrm>
          <a:custGeom>
            <a:avLst/>
            <a:gdLst/>
            <a:ahLst/>
            <a:cxnLst/>
            <a:rect l="l" t="t" r="r" b="b"/>
            <a:pathLst>
              <a:path w="1576288" h="3152576">
                <a:moveTo>
                  <a:pt x="0" y="0"/>
                </a:moveTo>
                <a:lnTo>
                  <a:pt x="1576288" y="0"/>
                </a:lnTo>
                <a:lnTo>
                  <a:pt x="1576288" y="3152577"/>
                </a:lnTo>
                <a:lnTo>
                  <a:pt x="0" y="315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Frequency distribution and probability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78113" y="6357632"/>
            <a:ext cx="15151309" cy="574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is the probability that a randomly selected resident is female?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45077" y="7889881"/>
            <a:ext cx="758309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p(F)=62'993/120'629=0.522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 groups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3607899" y="7735143"/>
            <a:ext cx="4384032" cy="114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7"/>
              </a:lnSpc>
              <a:spcBef>
                <a:spcPct val="0"/>
              </a:spcBef>
            </a:pPr>
            <a:r>
              <a:rPr lang="en-US" sz="329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Probability as a proportion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71675" y="5539307"/>
            <a:ext cx="1297689" cy="3604693"/>
          </a:xfrm>
          <a:custGeom>
            <a:avLst/>
            <a:gdLst/>
            <a:ahLst/>
            <a:cxnLst/>
            <a:rect l="l" t="t" r="r" b="b"/>
            <a:pathLst>
              <a:path w="1297689" h="3604693">
                <a:moveTo>
                  <a:pt x="0" y="0"/>
                </a:moveTo>
                <a:lnTo>
                  <a:pt x="1297689" y="0"/>
                </a:lnTo>
                <a:lnTo>
                  <a:pt x="1297689" y="3604693"/>
                </a:lnTo>
                <a:lnTo>
                  <a:pt x="0" y="3604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Frequency distribution and probability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2765" y="6283017"/>
            <a:ext cx="1569457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Given that the selected person is female, what is the probability that she belongs to the 15-64 age group?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 groups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71675" y="5539307"/>
            <a:ext cx="1297689" cy="3604693"/>
          </a:xfrm>
          <a:custGeom>
            <a:avLst/>
            <a:gdLst/>
            <a:ahLst/>
            <a:cxnLst/>
            <a:rect l="l" t="t" r="r" b="b"/>
            <a:pathLst>
              <a:path w="1297689" h="3604693">
                <a:moveTo>
                  <a:pt x="0" y="0"/>
                </a:moveTo>
                <a:lnTo>
                  <a:pt x="1297689" y="0"/>
                </a:lnTo>
                <a:lnTo>
                  <a:pt x="1297689" y="3604693"/>
                </a:lnTo>
                <a:lnTo>
                  <a:pt x="0" y="3604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Frequency distribution and probability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2765" y="6283017"/>
            <a:ext cx="1569457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Given that the selected person is female, what is the probability that she belongs to the 15-64 age group?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30665" y="7977832"/>
            <a:ext cx="9611916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p(15-64 | F) = 38'475/ 62'993 = 0.61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 groups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752" y="686578"/>
            <a:ext cx="2501658" cy="2779620"/>
          </a:xfrm>
          <a:custGeom>
            <a:avLst/>
            <a:gdLst/>
            <a:ahLst/>
            <a:cxnLst/>
            <a:rect l="l" t="t" r="r" b="b"/>
            <a:pathLst>
              <a:path w="2501658" h="2779620">
                <a:moveTo>
                  <a:pt x="0" y="0"/>
                </a:moveTo>
                <a:lnTo>
                  <a:pt x="2501658" y="0"/>
                </a:lnTo>
                <a:lnTo>
                  <a:pt x="2501658" y="2779619"/>
                </a:lnTo>
                <a:lnTo>
                  <a:pt x="0" y="2779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60238" y="4537892"/>
            <a:ext cx="5977028" cy="5439095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0186542" y="7478136"/>
            <a:ext cx="2976806" cy="2359119"/>
          </a:xfrm>
          <a:custGeom>
            <a:avLst/>
            <a:gdLst/>
            <a:ahLst/>
            <a:cxnLst/>
            <a:rect l="l" t="t" r="r" b="b"/>
            <a:pathLst>
              <a:path w="2976806" h="2359119">
                <a:moveTo>
                  <a:pt x="0" y="0"/>
                </a:moveTo>
                <a:lnTo>
                  <a:pt x="2976806" y="0"/>
                </a:lnTo>
                <a:lnTo>
                  <a:pt x="2976806" y="2359119"/>
                </a:lnTo>
                <a:lnTo>
                  <a:pt x="0" y="235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977120" y="5432762"/>
            <a:ext cx="5660718" cy="5660718"/>
          </a:xfrm>
          <a:custGeom>
            <a:avLst/>
            <a:gdLst/>
            <a:ahLst/>
            <a:cxnLst/>
            <a:rect l="l" t="t" r="r" b="b"/>
            <a:pathLst>
              <a:path w="5660718" h="5660718">
                <a:moveTo>
                  <a:pt x="0" y="0"/>
                </a:moveTo>
                <a:lnTo>
                  <a:pt x="5660719" y="0"/>
                </a:lnTo>
                <a:lnTo>
                  <a:pt x="5660719" y="5660719"/>
                </a:lnTo>
                <a:lnTo>
                  <a:pt x="0" y="5660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-1366938" y="514984"/>
            <a:ext cx="732162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Statistics!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61068" y="1547432"/>
            <a:ext cx="2976806" cy="880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01080" lvl="1" indent="-550540" algn="ctr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099" u="none" strike="noStrike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6093" y="4200097"/>
            <a:ext cx="10441413" cy="132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2. Statistical model that learns (training)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78897" y="6637409"/>
            <a:ext cx="5609103" cy="132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3. Output of the trained 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7504" y="1540765"/>
            <a:ext cx="5275107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1 Target variable</a:t>
            </a:r>
          </a:p>
          <a:p>
            <a:pPr marL="582933" lvl="1" indent="-291467" algn="l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Many explanatory variables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51134" y="8186922"/>
            <a:ext cx="3208166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Prediction (conditional probability)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3941742" y="2027977"/>
            <a:ext cx="3317558" cy="4114800"/>
          </a:xfrm>
          <a:custGeom>
            <a:avLst/>
            <a:gdLst/>
            <a:ahLst/>
            <a:cxnLst/>
            <a:rect l="l" t="t" r="r" b="b"/>
            <a:pathLst>
              <a:path w="3317558" h="4114800">
                <a:moveTo>
                  <a:pt x="0" y="0"/>
                </a:moveTo>
                <a:lnTo>
                  <a:pt x="3317558" y="0"/>
                </a:lnTo>
                <a:lnTo>
                  <a:pt x="33175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984845" y="3086100"/>
            <a:ext cx="6318311" cy="4114800"/>
          </a:xfrm>
          <a:custGeom>
            <a:avLst/>
            <a:gdLst/>
            <a:ahLst/>
            <a:cxnLst/>
            <a:rect l="l" t="t" r="r" b="b"/>
            <a:pathLst>
              <a:path w="6318311" h="4114800">
                <a:moveTo>
                  <a:pt x="0" y="0"/>
                </a:moveTo>
                <a:lnTo>
                  <a:pt x="6318310" y="0"/>
                </a:lnTo>
                <a:lnTo>
                  <a:pt x="63183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647741" y="5529709"/>
            <a:ext cx="5549775" cy="3614291"/>
          </a:xfrm>
          <a:custGeom>
            <a:avLst/>
            <a:gdLst/>
            <a:ahLst/>
            <a:cxnLst/>
            <a:rect l="l" t="t" r="r" b="b"/>
            <a:pathLst>
              <a:path w="5549775" h="3614291">
                <a:moveTo>
                  <a:pt x="0" y="0"/>
                </a:moveTo>
                <a:lnTo>
                  <a:pt x="5549775" y="0"/>
                </a:lnTo>
                <a:lnTo>
                  <a:pt x="5549775" y="3614291"/>
                </a:lnTo>
                <a:lnTo>
                  <a:pt x="0" y="3614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-508221" y="514984"/>
            <a:ext cx="13406425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Other classification problems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951777"/>
            <a:ext cx="11734651" cy="359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Spam email vs legitimate email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Fraudulent vs legitimate credit-card transaction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Company in default vs financially healthy company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Satisfied vs dissatisfied customer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TV series liked vs not liked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...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49590" y="6717655"/>
            <a:ext cx="6346076" cy="1425811"/>
            <a:chOff x="0" y="0"/>
            <a:chExt cx="8461435" cy="1901081"/>
          </a:xfrm>
        </p:grpSpPr>
        <p:sp>
          <p:nvSpPr>
            <p:cNvPr id="9" name="TextBox 9"/>
            <p:cNvSpPr txBox="1"/>
            <p:nvPr/>
          </p:nvSpPr>
          <p:spPr>
            <a:xfrm>
              <a:off x="0" y="613893"/>
              <a:ext cx="8461435" cy="1287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68"/>
                </a:lnSpc>
              </a:pPr>
              <a:r>
                <a:rPr lang="en-US" sz="7835" spc="-235" dirty="0">
                  <a:solidFill>
                    <a:srgbClr val="CD623A"/>
                  </a:solidFill>
                  <a:latin typeface="Frankfurter Highlight"/>
                  <a:ea typeface="Frankfurter Highlight"/>
                  <a:cs typeface="Frankfurter Highlight"/>
                  <a:sym typeface="Frankfurter Highlight"/>
                </a:rPr>
                <a:t>Models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61925"/>
              <a:ext cx="8461435" cy="68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48"/>
                </a:lnSpc>
              </a:pPr>
              <a:r>
                <a:rPr lang="en-US" sz="4186">
                  <a:solidFill>
                    <a:srgbClr val="CD623A"/>
                  </a:solidFill>
                  <a:latin typeface="Borel"/>
                  <a:ea typeface="Borel"/>
                  <a:cs typeface="Borel"/>
                  <a:sym typeface="Borel"/>
                </a:rPr>
                <a:t>Statistical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993817" y="5644009"/>
            <a:ext cx="7586510" cy="3842891"/>
          </a:xfrm>
          <a:custGeom>
            <a:avLst/>
            <a:gdLst/>
            <a:ahLst/>
            <a:cxnLst/>
            <a:rect l="l" t="t" r="r" b="b"/>
            <a:pathLst>
              <a:path w="5549775" h="3614291">
                <a:moveTo>
                  <a:pt x="0" y="0"/>
                </a:moveTo>
                <a:lnTo>
                  <a:pt x="5549775" y="0"/>
                </a:lnTo>
                <a:lnTo>
                  <a:pt x="5549775" y="3614291"/>
                </a:lnTo>
                <a:lnTo>
                  <a:pt x="0" y="3614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2" name="Group 12"/>
          <p:cNvGrpSpPr/>
          <p:nvPr/>
        </p:nvGrpSpPr>
        <p:grpSpPr>
          <a:xfrm>
            <a:off x="8845257" y="6952160"/>
            <a:ext cx="6037640" cy="1487253"/>
            <a:chOff x="859881" y="194773"/>
            <a:chExt cx="8658455" cy="2902052"/>
          </a:xfrm>
        </p:grpSpPr>
        <p:sp>
          <p:nvSpPr>
            <p:cNvPr id="13" name="TextBox 13"/>
            <p:cNvSpPr txBox="1"/>
            <p:nvPr/>
          </p:nvSpPr>
          <p:spPr>
            <a:xfrm>
              <a:off x="859881" y="1396116"/>
              <a:ext cx="8461434" cy="170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268"/>
                </a:lnSpc>
              </a:pPr>
              <a:r>
                <a:rPr lang="en-US" sz="7835" spc="-235" dirty="0">
                  <a:solidFill>
                    <a:srgbClr val="CD623A"/>
                  </a:solidFill>
                  <a:latin typeface="Frankfurter Highlight"/>
                  <a:ea typeface="Frankfurter Highlight"/>
                  <a:cs typeface="Frankfurter Highlight"/>
                  <a:sym typeface="Frankfurter Highlight"/>
                </a:rPr>
                <a:t>ALGORITHMS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6902" y="194773"/>
              <a:ext cx="8461434" cy="933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48"/>
                </a:lnSpc>
              </a:pPr>
              <a:r>
                <a:rPr lang="en-US" sz="4186" dirty="0">
                  <a:solidFill>
                    <a:srgbClr val="CD623A"/>
                  </a:solidFill>
                  <a:latin typeface="Borel"/>
                  <a:ea typeface="Borel"/>
                  <a:cs typeface="Borel"/>
                  <a:sym typeface="Borel"/>
                </a:rPr>
                <a:t>Machine Learning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3480416" y="680833"/>
            <a:ext cx="14006264" cy="79045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 rot="-5400000">
            <a:off x="-1550208" y="3758225"/>
            <a:ext cx="743188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Time to play!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66599" y="563020"/>
            <a:ext cx="2501658" cy="2779620"/>
          </a:xfrm>
          <a:custGeom>
            <a:avLst/>
            <a:gdLst/>
            <a:ahLst/>
            <a:cxnLst/>
            <a:rect l="l" t="t" r="r" b="b"/>
            <a:pathLst>
              <a:path w="2501658" h="2779620">
                <a:moveTo>
                  <a:pt x="0" y="0"/>
                </a:moveTo>
                <a:lnTo>
                  <a:pt x="2501658" y="0"/>
                </a:lnTo>
                <a:lnTo>
                  <a:pt x="2501658" y="2779620"/>
                </a:lnTo>
                <a:lnTo>
                  <a:pt x="0" y="27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6230" y="4118099"/>
            <a:ext cx="5977028" cy="5439095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7655597" y="6172270"/>
            <a:ext cx="2976806" cy="2359119"/>
          </a:xfrm>
          <a:custGeom>
            <a:avLst/>
            <a:gdLst/>
            <a:ahLst/>
            <a:cxnLst/>
            <a:rect l="l" t="t" r="r" b="b"/>
            <a:pathLst>
              <a:path w="2976806" h="2359119">
                <a:moveTo>
                  <a:pt x="0" y="0"/>
                </a:moveTo>
                <a:lnTo>
                  <a:pt x="2976806" y="0"/>
                </a:lnTo>
                <a:lnTo>
                  <a:pt x="2976806" y="2359119"/>
                </a:lnTo>
                <a:lnTo>
                  <a:pt x="0" y="235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047750" y="563020"/>
            <a:ext cx="2170298" cy="2246104"/>
          </a:xfrm>
          <a:custGeom>
            <a:avLst/>
            <a:gdLst/>
            <a:ahLst/>
            <a:cxnLst/>
            <a:rect l="l" t="t" r="r" b="b"/>
            <a:pathLst>
              <a:path w="2170298" h="2246104">
                <a:moveTo>
                  <a:pt x="0" y="0"/>
                </a:moveTo>
                <a:lnTo>
                  <a:pt x="2170298" y="0"/>
                </a:lnTo>
                <a:lnTo>
                  <a:pt x="2170298" y="2246105"/>
                </a:lnTo>
                <a:lnTo>
                  <a:pt x="0" y="2246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776303" y="5294430"/>
            <a:ext cx="6152824" cy="6137442"/>
          </a:xfrm>
          <a:custGeom>
            <a:avLst/>
            <a:gdLst/>
            <a:ahLst/>
            <a:cxnLst/>
            <a:rect l="l" t="t" r="r" b="b"/>
            <a:pathLst>
              <a:path w="6152824" h="6137442">
                <a:moveTo>
                  <a:pt x="0" y="0"/>
                </a:moveTo>
                <a:lnTo>
                  <a:pt x="6152823" y="0"/>
                </a:lnTo>
                <a:lnTo>
                  <a:pt x="6152823" y="6137441"/>
                </a:lnTo>
                <a:lnTo>
                  <a:pt x="0" y="6137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7410619" y="1583944"/>
            <a:ext cx="2765795" cy="880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80" lvl="1" indent="-550540" algn="ctr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099" u="none" strike="noStrike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86281" y="4032374"/>
            <a:ext cx="7461750" cy="132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2. Statistical model (training)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42197" y="6505821"/>
            <a:ext cx="6884810" cy="2390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Conditional probability of winning the match based on the characteristics of your team and the opposing 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37362" y="854598"/>
            <a:ext cx="7028695" cy="212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endParaRPr/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 variable: match won/lost</a:t>
            </a: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characteristics of the two teams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895915" y="5657510"/>
            <a:ext cx="8111587" cy="655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3. Output of the trained model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0326786" y="3052499"/>
            <a:ext cx="7410213" cy="418200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324225" y="497314"/>
            <a:ext cx="11639550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899" dirty="0">
                <a:solidFill>
                  <a:srgbClr val="CD623A"/>
                </a:solidFill>
                <a:latin typeface="Blueberry Outline"/>
                <a:ea typeface="Blueberry Outline"/>
                <a:cs typeface="Blueberry Outline"/>
                <a:sym typeface="Blueberry Outline"/>
              </a:rPr>
              <a:t>Choose your team!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7518" y="2976299"/>
            <a:ext cx="8681380" cy="512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sz="3625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We will ask you for: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team name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number of women on the team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age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self-assessed skill (0 to 10)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frequency of play during the year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whether you are playing in your preferred role (yes/no)</a:t>
            </a:r>
          </a:p>
          <a:p>
            <a:pPr algn="l">
              <a:lnSpc>
                <a:spcPts val="5076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+ we will record which team scores first</a:t>
            </a:r>
          </a:p>
        </p:txBody>
      </p:sp>
      <p:sp>
        <p:nvSpPr>
          <p:cNvPr id="6" name="Freeform 6"/>
          <p:cNvSpPr/>
          <p:nvPr/>
        </p:nvSpPr>
        <p:spPr>
          <a:xfrm>
            <a:off x="10326786" y="7565505"/>
            <a:ext cx="2976806" cy="2359119"/>
          </a:xfrm>
          <a:custGeom>
            <a:avLst/>
            <a:gdLst/>
            <a:ahLst/>
            <a:cxnLst/>
            <a:rect l="l" t="t" r="r" b="b"/>
            <a:pathLst>
              <a:path w="2976806" h="2359119">
                <a:moveTo>
                  <a:pt x="0" y="0"/>
                </a:moveTo>
                <a:lnTo>
                  <a:pt x="2976807" y="0"/>
                </a:lnTo>
                <a:lnTo>
                  <a:pt x="2976807" y="2359119"/>
                </a:lnTo>
                <a:lnTo>
                  <a:pt x="0" y="235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3303593" y="7824917"/>
            <a:ext cx="4016166" cy="1783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Our model will estimate your probability of winning the match</a:t>
            </a:r>
          </a:p>
          <a:p>
            <a:pPr algn="ctr">
              <a:lnSpc>
                <a:spcPts val="3566"/>
              </a:lnSpc>
              <a:spcBef>
                <a:spcPct val="0"/>
              </a:spcBef>
            </a:pPr>
            <a:r>
              <a:rPr lang="en-US" sz="254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(first to 3 goals)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67836" y="-4644995"/>
            <a:ext cx="20373561" cy="20118891"/>
          </a:xfrm>
          <a:custGeom>
            <a:avLst/>
            <a:gdLst/>
            <a:ahLst/>
            <a:cxnLst/>
            <a:rect l="l" t="t" r="r" b="b"/>
            <a:pathLst>
              <a:path w="20373561" h="20118891">
                <a:moveTo>
                  <a:pt x="0" y="0"/>
                </a:moveTo>
                <a:lnTo>
                  <a:pt x="20373561" y="0"/>
                </a:lnTo>
                <a:lnTo>
                  <a:pt x="20373561" y="20118891"/>
                </a:lnTo>
                <a:lnTo>
                  <a:pt x="0" y="20118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793646" y="1385534"/>
            <a:ext cx="2976806" cy="2359119"/>
          </a:xfrm>
          <a:custGeom>
            <a:avLst/>
            <a:gdLst/>
            <a:ahLst/>
            <a:cxnLst/>
            <a:rect l="l" t="t" r="r" b="b"/>
            <a:pathLst>
              <a:path w="2976806" h="2359119">
                <a:moveTo>
                  <a:pt x="0" y="0"/>
                </a:moveTo>
                <a:lnTo>
                  <a:pt x="2976807" y="0"/>
                </a:lnTo>
                <a:lnTo>
                  <a:pt x="2976807" y="2359119"/>
                </a:lnTo>
                <a:lnTo>
                  <a:pt x="0" y="235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318945" y="1430713"/>
            <a:ext cx="1312776" cy="2339023"/>
          </a:xfrm>
          <a:custGeom>
            <a:avLst/>
            <a:gdLst/>
            <a:ahLst/>
            <a:cxnLst/>
            <a:rect l="l" t="t" r="r" b="b"/>
            <a:pathLst>
              <a:path w="1312776" h="2339023">
                <a:moveTo>
                  <a:pt x="0" y="0"/>
                </a:moveTo>
                <a:lnTo>
                  <a:pt x="1312776" y="0"/>
                </a:lnTo>
                <a:lnTo>
                  <a:pt x="1312776" y="2339023"/>
                </a:lnTo>
                <a:lnTo>
                  <a:pt x="0" y="2339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3809221" y="6083971"/>
            <a:ext cx="3267350" cy="2683311"/>
          </a:xfrm>
          <a:custGeom>
            <a:avLst/>
            <a:gdLst/>
            <a:ahLst/>
            <a:cxnLst/>
            <a:rect l="l" t="t" r="r" b="b"/>
            <a:pathLst>
              <a:path w="3267350" h="2683311">
                <a:moveTo>
                  <a:pt x="0" y="0"/>
                </a:moveTo>
                <a:lnTo>
                  <a:pt x="3267350" y="0"/>
                </a:lnTo>
                <a:lnTo>
                  <a:pt x="3267350" y="2683311"/>
                </a:lnTo>
                <a:lnTo>
                  <a:pt x="0" y="268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36341" y="1474781"/>
            <a:ext cx="2944903" cy="3939670"/>
          </a:xfrm>
          <a:custGeom>
            <a:avLst/>
            <a:gdLst/>
            <a:ahLst/>
            <a:cxnLst/>
            <a:rect l="l" t="t" r="r" b="b"/>
            <a:pathLst>
              <a:path w="2944903" h="3939670">
                <a:moveTo>
                  <a:pt x="0" y="0"/>
                </a:moveTo>
                <a:lnTo>
                  <a:pt x="2944903" y="0"/>
                </a:lnTo>
                <a:lnTo>
                  <a:pt x="2944903" y="3939670"/>
                </a:lnTo>
                <a:lnTo>
                  <a:pt x="0" y="3939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2935677" y="1631961"/>
            <a:ext cx="5014439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Conditional probability that Team A wins the match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378" y="48259"/>
            <a:ext cx="795284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For each match...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81244" y="1654551"/>
            <a:ext cx="4737701" cy="1790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Observed outcome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Win or loss for Team 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13259" y="6027377"/>
            <a:ext cx="8394969" cy="3034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difference (Delta) between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the observed outcome and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the probability estimated by the model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provides a measure of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“performance relative to expectations”.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5561" y="-5197568"/>
            <a:ext cx="20373561" cy="20118891"/>
          </a:xfrm>
          <a:custGeom>
            <a:avLst/>
            <a:gdLst/>
            <a:ahLst/>
            <a:cxnLst/>
            <a:rect l="l" t="t" r="r" b="b"/>
            <a:pathLst>
              <a:path w="20373561" h="20118891">
                <a:moveTo>
                  <a:pt x="0" y="0"/>
                </a:moveTo>
                <a:lnTo>
                  <a:pt x="20373561" y="0"/>
                </a:lnTo>
                <a:lnTo>
                  <a:pt x="20373561" y="20118891"/>
                </a:lnTo>
                <a:lnTo>
                  <a:pt x="0" y="20118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177310" y="1220478"/>
            <a:ext cx="6747789" cy="6629703"/>
          </a:xfrm>
          <a:custGeom>
            <a:avLst/>
            <a:gdLst/>
            <a:ahLst/>
            <a:cxnLst/>
            <a:rect l="l" t="t" r="r" b="b"/>
            <a:pathLst>
              <a:path w="6747789" h="6629703">
                <a:moveTo>
                  <a:pt x="0" y="0"/>
                </a:moveTo>
                <a:lnTo>
                  <a:pt x="6747789" y="0"/>
                </a:lnTo>
                <a:lnTo>
                  <a:pt x="6747789" y="6629703"/>
                </a:lnTo>
                <a:lnTo>
                  <a:pt x="0" y="6629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0" y="-114300"/>
            <a:ext cx="6314014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Play-off bracket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10825225" y="1103957"/>
            <a:ext cx="4250640" cy="6862744"/>
          </a:xfrm>
          <a:custGeom>
            <a:avLst/>
            <a:gdLst/>
            <a:ahLst/>
            <a:cxnLst/>
            <a:rect l="l" t="t" r="r" b="b"/>
            <a:pathLst>
              <a:path w="4250640" h="6862744">
                <a:moveTo>
                  <a:pt x="0" y="0"/>
                </a:moveTo>
                <a:lnTo>
                  <a:pt x="4250640" y="0"/>
                </a:lnTo>
                <a:lnTo>
                  <a:pt x="4250640" y="6862744"/>
                </a:lnTo>
                <a:lnTo>
                  <a:pt x="0" y="68627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10" r="-6467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624530" y="1153803"/>
            <a:ext cx="416421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90076" y="3187177"/>
            <a:ext cx="485329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90076" y="5126411"/>
            <a:ext cx="482352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58599" y="7065646"/>
            <a:ext cx="474464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18172" y="1153803"/>
            <a:ext cx="476845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56049" y="3187177"/>
            <a:ext cx="461516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87290" y="5217272"/>
            <a:ext cx="478185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45246" y="7247368"/>
            <a:ext cx="500509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22411" y="8143235"/>
            <a:ext cx="13482935" cy="73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team with the higher Delta advances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687141" y="2091704"/>
            <a:ext cx="5143500" cy="4114800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391160"/>
            <a:ext cx="12496800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Post-laboratory questionnaire</a:t>
            </a:r>
          </a:p>
        </p:txBody>
      </p:sp>
      <p:sp>
        <p:nvSpPr>
          <p:cNvPr id="5" name="Freeform 5"/>
          <p:cNvSpPr/>
          <p:nvPr/>
        </p:nvSpPr>
        <p:spPr>
          <a:xfrm>
            <a:off x="12907824" y="6411781"/>
            <a:ext cx="2636209" cy="2188053"/>
          </a:xfrm>
          <a:custGeom>
            <a:avLst/>
            <a:gdLst/>
            <a:ahLst/>
            <a:cxnLst/>
            <a:rect l="l" t="t" r="r" b="b"/>
            <a:pathLst>
              <a:path w="2636209" h="2188053">
                <a:moveTo>
                  <a:pt x="0" y="0"/>
                </a:moveTo>
                <a:lnTo>
                  <a:pt x="2636209" y="0"/>
                </a:lnTo>
                <a:lnTo>
                  <a:pt x="2636209" y="2188053"/>
                </a:lnTo>
                <a:lnTo>
                  <a:pt x="0" y="2188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035960" y="2330773"/>
            <a:ext cx="4424879" cy="6203102"/>
          </a:xfrm>
          <a:custGeom>
            <a:avLst/>
            <a:gdLst/>
            <a:ahLst/>
            <a:cxnLst/>
            <a:rect l="l" t="t" r="r" b="b"/>
            <a:pathLst>
              <a:path w="4424879" h="6203102">
                <a:moveTo>
                  <a:pt x="0" y="0"/>
                </a:moveTo>
                <a:lnTo>
                  <a:pt x="4424879" y="0"/>
                </a:lnTo>
                <a:lnTo>
                  <a:pt x="4424879" y="6203102"/>
                </a:lnTo>
                <a:lnTo>
                  <a:pt x="0" y="6203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962790" y="3642260"/>
            <a:ext cx="2571218" cy="179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dirty="0">
                <a:solidFill>
                  <a:srgbClr val="3461AA"/>
                </a:solidFill>
                <a:latin typeface="Rubik"/>
                <a:ea typeface="Rubik"/>
                <a:cs typeface="Rubik"/>
                <a:sym typeface="Rubik"/>
              </a:rPr>
              <a:t>Insert the survey QR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854</Words>
  <Application>Microsoft Macintosh PowerPoint</Application>
  <PresentationFormat>Custom</PresentationFormat>
  <Paragraphs>256</Paragraphs>
  <Slides>28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Frankfurter Highlight</vt:lpstr>
      <vt:lpstr>Arial</vt:lpstr>
      <vt:lpstr>Rubik</vt:lpstr>
      <vt:lpstr>Rubik Bold</vt:lpstr>
      <vt:lpstr>Blueberry Outline</vt:lpstr>
      <vt:lpstr>Archive</vt:lpstr>
      <vt:lpstr>Canva Sans</vt:lpstr>
      <vt:lpstr>Canva Sans Bold</vt:lpstr>
      <vt:lpstr>Borel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Introductory_lecture_ITA.pptx</dc:title>
  <cp:lastModifiedBy>Michela Cameletti</cp:lastModifiedBy>
  <cp:revision>4</cp:revision>
  <dcterms:created xsi:type="dcterms:W3CDTF">2006-08-16T00:00:00Z</dcterms:created>
  <dcterms:modified xsi:type="dcterms:W3CDTF">2026-08-28T15:02:11Z</dcterms:modified>
  <dc:identifier>DAHTlqfpmVc</dc:identifier>
</cp:coreProperties>
</file>