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8288000" cy="10287000"/>
  <p:notesSz cx="6858000" cy="9144000"/>
  <p:embeddedFontLst>
    <p:embeddedFont>
      <p:font typeface="Archive" panose="02000506040000020004" pitchFamily="2" charset="0"/>
      <p:regular r:id="rId29"/>
    </p:embeddedFont>
    <p:embeddedFont>
      <p:font typeface="Blueberry Outline" panose="02000500000000000000" pitchFamily="2" charset="0"/>
      <p:regular r:id="rId30"/>
    </p:embeddedFont>
    <p:embeddedFont>
      <p:font typeface="Borel" pitchFamily="2" charset="0"/>
      <p:regular r:id="rId31"/>
    </p:embeddedFont>
    <p:embeddedFont>
      <p:font typeface="Canva Sans" panose="020B0503030501040103"/>
      <p:regular r:id="rId32"/>
    </p:embeddedFont>
    <p:embeddedFont>
      <p:font typeface="Canva Sans Bold" panose="020B0803030501040103"/>
      <p:regular r:id="rId33"/>
      <p:bold r:id="rId34"/>
    </p:embeddedFont>
    <p:embeddedFont>
      <p:font typeface="Frankfurter Highlight" panose="020F0604020204080C04" pitchFamily="34" charset="77"/>
      <p:regular r:id="rId35"/>
    </p:embeddedFont>
    <p:embeddedFont>
      <p:font typeface="Rubik" pitchFamily="2" charset="-79"/>
      <p:regular r:id="rId36"/>
      <p:bold r:id="rId37"/>
      <p:italic r:id="rId38"/>
      <p:boldItalic r:id="rId39"/>
    </p:embeddedFont>
    <p:embeddedFont>
      <p:font typeface="Rubik Bold" pitchFamily="2" charset="-7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4" autoAdjust="0"/>
    <p:restoredTop sz="94658" autoAdjust="0"/>
  </p:normalViewPr>
  <p:slideViewPr>
    <p:cSldViewPr>
      <p:cViewPr varScale="1">
        <p:scale>
          <a:sx n="80" d="100"/>
          <a:sy n="80" d="100"/>
        </p:scale>
        <p:origin x="52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font" Target="fonts/font12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mo.istat.i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emo.istat.it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4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gif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1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9.svg"/><Relationship Id="rId4" Type="http://schemas.openxmlformats.org/officeDocument/2006/relationships/image" Target="../media/image2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jpe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28.sv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2514600" y="792831"/>
            <a:ext cx="13258800" cy="2257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sz="6500" b="1" dirty="0" err="1">
                <a:latin typeface="Canva Sans Bold"/>
                <a:ea typeface="Canva Sans Bold"/>
                <a:cs typeface="Canva Sans Bold"/>
                <a:sym typeface="Canva Sans Bold"/>
              </a:rPr>
              <a:t>Statisticamente</a:t>
            </a:r>
            <a:r>
              <a:rPr lang="en-US" sz="6500" b="1" dirty="0">
                <a:latin typeface="Canva Sans Bold"/>
                <a:ea typeface="Canva Sans Bold"/>
                <a:cs typeface="Canva Sans Bold"/>
                <a:sym typeface="Canva Sans Bold"/>
              </a:rPr>
              <a:t> in </a:t>
            </a:r>
            <a:r>
              <a:rPr lang="en-US" sz="6500" b="1" dirty="0" err="1">
                <a:latin typeface="Canva Sans Bold"/>
                <a:ea typeface="Canva Sans Bold"/>
                <a:cs typeface="Canva Sans Bold"/>
                <a:sym typeface="Canva Sans Bold"/>
              </a:rPr>
              <a:t>gioco</a:t>
            </a:r>
            <a:r>
              <a:rPr lang="en-US" sz="6500" b="1" dirty="0">
                <a:latin typeface="Canva Sans Bold"/>
                <a:ea typeface="Canva Sans Bold"/>
                <a:cs typeface="Canva Sans Bold"/>
                <a:sym typeface="Canva Sans Bold"/>
              </a:rPr>
              <a:t>: </a:t>
            </a:r>
          </a:p>
          <a:p>
            <a:pPr algn="ctr">
              <a:lnSpc>
                <a:spcPts val="9100"/>
              </a:lnSpc>
            </a:pPr>
            <a:r>
              <a:rPr lang="en-US" sz="6500" b="1" dirty="0" err="1">
                <a:latin typeface="Canva Sans Bold"/>
                <a:ea typeface="Canva Sans Bold"/>
                <a:cs typeface="Canva Sans Bold"/>
                <a:sym typeface="Canva Sans Bold"/>
              </a:rPr>
              <a:t>dai</a:t>
            </a:r>
            <a:r>
              <a:rPr lang="en-US" sz="6500" b="1" dirty="0">
                <a:latin typeface="Canva Sans Bold"/>
                <a:ea typeface="Canva Sans Bold"/>
                <a:cs typeface="Canva Sans Bold"/>
                <a:sym typeface="Canva Sans Bold"/>
              </a:rPr>
              <a:t> il </a:t>
            </a:r>
            <a:r>
              <a:rPr lang="en-US" sz="6500" b="1" dirty="0" err="1">
                <a:latin typeface="Canva Sans Bold"/>
                <a:ea typeface="Canva Sans Bold"/>
                <a:cs typeface="Canva Sans Bold"/>
                <a:sym typeface="Canva Sans Bold"/>
              </a:rPr>
              <a:t>tuo</a:t>
            </a:r>
            <a:r>
              <a:rPr lang="en-US" sz="6500" b="1" dirty="0">
                <a:latin typeface="Canva Sans Bold"/>
                <a:ea typeface="Canva Sans Bold"/>
                <a:cs typeface="Canva Sans Bold"/>
                <a:sym typeface="Canva Sans Bold"/>
              </a:rPr>
              <a:t> calcio </a:t>
            </a:r>
            <a:r>
              <a:rPr lang="en-US" sz="6500" b="1" dirty="0" err="1">
                <a:latin typeface="Canva Sans Bold"/>
                <a:ea typeface="Canva Sans Bold"/>
                <a:cs typeface="Canva Sans Bold"/>
                <a:sym typeface="Canva Sans Bold"/>
              </a:rPr>
              <a:t>d’inizio</a:t>
            </a:r>
            <a:r>
              <a:rPr lang="en-US" sz="6500" b="1" dirty="0">
                <a:latin typeface="Canva Sans Bold"/>
                <a:ea typeface="Canva Sans Bold"/>
                <a:cs typeface="Canva Sans Bold"/>
                <a:sym typeface="Canva Sans Bold"/>
              </a:rPr>
              <a:t>!</a:t>
            </a:r>
          </a:p>
        </p:txBody>
      </p:sp>
      <p:sp>
        <p:nvSpPr>
          <p:cNvPr id="7" name="Freeform 7"/>
          <p:cNvSpPr/>
          <p:nvPr/>
        </p:nvSpPr>
        <p:spPr>
          <a:xfrm>
            <a:off x="4724400" y="3775938"/>
            <a:ext cx="8534400" cy="5712215"/>
          </a:xfrm>
          <a:custGeom>
            <a:avLst/>
            <a:gdLst/>
            <a:ahLst/>
            <a:cxnLst/>
            <a:rect l="l" t="t" r="r" b="b"/>
            <a:pathLst>
              <a:path w="5215541" h="3474854">
                <a:moveTo>
                  <a:pt x="0" y="0"/>
                </a:moveTo>
                <a:lnTo>
                  <a:pt x="5215541" y="0"/>
                </a:lnTo>
                <a:lnTo>
                  <a:pt x="5215541" y="3474854"/>
                </a:lnTo>
                <a:lnTo>
                  <a:pt x="0" y="3474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438919" y="553477"/>
            <a:ext cx="11410163" cy="3979294"/>
          </a:xfrm>
          <a:custGeom>
            <a:avLst/>
            <a:gdLst/>
            <a:ahLst/>
            <a:cxnLst/>
            <a:rect l="l" t="t" r="r" b="b"/>
            <a:pathLst>
              <a:path w="11410163" h="3979294">
                <a:moveTo>
                  <a:pt x="0" y="0"/>
                </a:moveTo>
                <a:lnTo>
                  <a:pt x="11410162" y="0"/>
                </a:lnTo>
                <a:lnTo>
                  <a:pt x="11410162" y="3979294"/>
                </a:lnTo>
                <a:lnTo>
                  <a:pt x="0" y="39792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330358" y="4881776"/>
            <a:ext cx="9042241" cy="9319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Cosa </a:t>
            </a:r>
            <a:r>
              <a:rPr lang="en-US" sz="5600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faremo</a:t>
            </a:r>
            <a:r>
              <a:rPr lang="en-US" sz="5600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sz="5600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oggi</a:t>
            </a:r>
            <a:r>
              <a:rPr lang="en-US" sz="5600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?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0763" y="6084086"/>
            <a:ext cx="9334837" cy="14604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906788" lvl="1" indent="-453394" algn="l">
              <a:lnSpc>
                <a:spcPts val="5880"/>
              </a:lnSpc>
              <a:buAutoNum type="arabicPeriod"/>
            </a:pPr>
            <a:r>
              <a:rPr lang="en-US" sz="42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Mini </a:t>
            </a:r>
            <a:r>
              <a:rPr lang="en-US" sz="42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lezione</a:t>
            </a:r>
            <a:r>
              <a:rPr lang="en-US" sz="42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teorica</a:t>
            </a:r>
            <a:endParaRPr lang="en-US" sz="4200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  <a:p>
            <a:pPr marL="906788" lvl="1" indent="-453394" algn="l">
              <a:lnSpc>
                <a:spcPts val="5880"/>
              </a:lnSpc>
              <a:buAutoNum type="arabicPeriod"/>
            </a:pPr>
            <a:r>
              <a:rPr lang="en-US" sz="42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Attività</a:t>
            </a:r>
            <a:r>
              <a:rPr lang="en-US" sz="42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42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pratica</a:t>
            </a:r>
            <a:r>
              <a:rPr lang="en-US" sz="42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con il </a:t>
            </a:r>
            <a:r>
              <a:rPr lang="en-US" sz="42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biliardino</a:t>
            </a:r>
            <a:endParaRPr lang="en-US" sz="4200" dirty="0">
              <a:solidFill>
                <a:srgbClr val="000000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884023" y="2103025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12907824" y="6411781"/>
            <a:ext cx="2636209" cy="2188053"/>
          </a:xfrm>
          <a:custGeom>
            <a:avLst/>
            <a:gdLst/>
            <a:ahLst/>
            <a:cxnLst/>
            <a:rect l="l" t="t" r="r" b="b"/>
            <a:pathLst>
              <a:path w="2636209" h="2188053">
                <a:moveTo>
                  <a:pt x="0" y="0"/>
                </a:moveTo>
                <a:lnTo>
                  <a:pt x="2636209" y="0"/>
                </a:lnTo>
                <a:lnTo>
                  <a:pt x="2636209" y="2188053"/>
                </a:lnTo>
                <a:lnTo>
                  <a:pt x="0" y="2188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Freeform 5"/>
          <p:cNvSpPr/>
          <p:nvPr/>
        </p:nvSpPr>
        <p:spPr>
          <a:xfrm>
            <a:off x="4748429" y="1980742"/>
            <a:ext cx="4424879" cy="6203102"/>
          </a:xfrm>
          <a:custGeom>
            <a:avLst/>
            <a:gdLst/>
            <a:ahLst/>
            <a:cxnLst/>
            <a:rect l="l" t="t" r="r" b="b"/>
            <a:pathLst>
              <a:path w="4424879" h="6203102">
                <a:moveTo>
                  <a:pt x="0" y="0"/>
                </a:moveTo>
                <a:lnTo>
                  <a:pt x="4424879" y="0"/>
                </a:lnTo>
                <a:lnTo>
                  <a:pt x="4424879" y="6203102"/>
                </a:lnTo>
                <a:lnTo>
                  <a:pt x="0" y="6203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TextBox 6"/>
          <p:cNvSpPr txBox="1"/>
          <p:nvPr/>
        </p:nvSpPr>
        <p:spPr>
          <a:xfrm>
            <a:off x="0" y="391160"/>
            <a:ext cx="774170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Questionario PRE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49267" y="3099351"/>
            <a:ext cx="2571218" cy="179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3461AA"/>
                </a:solidFill>
                <a:latin typeface="Rubik"/>
                <a:ea typeface="Rubik"/>
                <a:cs typeface="Rubik"/>
                <a:sym typeface="Rubik"/>
              </a:rPr>
              <a:t>Includere il QRcode dell’indagine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67219" y="1994236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91160"/>
            <a:ext cx="545145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7402" y="1870411"/>
            <a:ext cx="8356239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 consideri il lancio di una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moneta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regolare.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1547" y="4553940"/>
            <a:ext cx="883209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 probabilità di ottenere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TESTA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è pari a 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67219" y="1994236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91160"/>
            <a:ext cx="545145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7402" y="1870411"/>
            <a:ext cx="8356239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 consideri il lancio di una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moneta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regolare.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1547" y="4553940"/>
            <a:ext cx="883209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 probabilità di ottenere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TESTA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è pari a 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40279" y="7533269"/>
            <a:ext cx="493514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p(TESTA)=1/2=0.5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767219" y="1994236"/>
            <a:ext cx="4377447" cy="4114800"/>
          </a:xfrm>
          <a:custGeom>
            <a:avLst/>
            <a:gdLst/>
            <a:ahLst/>
            <a:cxnLst/>
            <a:rect l="l" t="t" r="r" b="b"/>
            <a:pathLst>
              <a:path w="4377447" h="4114800">
                <a:moveTo>
                  <a:pt x="0" y="0"/>
                </a:moveTo>
                <a:lnTo>
                  <a:pt x="4377447" y="0"/>
                </a:lnTo>
                <a:lnTo>
                  <a:pt x="437744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91160"/>
            <a:ext cx="545145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237402" y="1870411"/>
            <a:ext cx="8356239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 consideri il lancio di una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moneta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regolare.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1547" y="4553940"/>
            <a:ext cx="8832093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 probabilità di ottenere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TESTA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è pari a 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40279" y="7533269"/>
            <a:ext cx="493514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</a:pPr>
            <a:r>
              <a:rPr lang="en-US" sz="4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p(TESTA)=1/2=0.5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72751" y="6641209"/>
            <a:ext cx="4384032" cy="230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sz="329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Probabilità come rapporto tra </a:t>
            </a:r>
          </a:p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sz="329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casi favorevoli e casi possibili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90858" y="29108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590858" y="391160"/>
            <a:ext cx="4285942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 err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</a:t>
            </a:r>
            <a:endParaRPr lang="en-US" sz="5799" b="1" dirty="0">
              <a:solidFill>
                <a:srgbClr val="3461AA"/>
              </a:solidFill>
              <a:latin typeface="Rubik Bold"/>
              <a:ea typeface="Rubik Bold"/>
              <a:cs typeface="Rubik Bold"/>
              <a:sym typeface="Rubik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107391" y="1519377"/>
            <a:ext cx="8356239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 consideri il lancio di un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DADO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regolare.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6347" y="4081792"/>
            <a:ext cx="7938326" cy="294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probabilità di ottenere la faccia con il </a:t>
            </a: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numero 4 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è pari a ...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90858" y="29108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590858" y="391160"/>
            <a:ext cx="4285942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 err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</a:t>
            </a:r>
            <a:endParaRPr lang="en-US" sz="5799" b="1" dirty="0">
              <a:solidFill>
                <a:srgbClr val="3461AA"/>
              </a:solidFill>
              <a:latin typeface="Rubik Bold"/>
              <a:ea typeface="Rubik Bold"/>
              <a:cs typeface="Rubik Bold"/>
              <a:sym typeface="Rubik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107391" y="1519377"/>
            <a:ext cx="8356239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 consideri il lancio di un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DADO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regolare.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6347" y="4081792"/>
            <a:ext cx="7938326" cy="294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probabilità di ottenere la faccia con il </a:t>
            </a: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numero 4 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è pari a 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44807" y="7848716"/>
            <a:ext cx="232395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p(4)=1/6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590858" y="2910852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590858" y="391160"/>
            <a:ext cx="4285942" cy="10052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 dirty="0" err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</a:t>
            </a:r>
            <a:endParaRPr lang="en-US" sz="5799" b="1" dirty="0">
              <a:solidFill>
                <a:srgbClr val="3461AA"/>
              </a:solidFill>
              <a:latin typeface="Rubik Bold"/>
              <a:ea typeface="Rubik Bold"/>
              <a:cs typeface="Rubik Bold"/>
              <a:sym typeface="Rubik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7107391" y="1519377"/>
            <a:ext cx="8356239" cy="1962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 consideri il lancio di un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DADO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regolare.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16347" y="4081792"/>
            <a:ext cx="7938326" cy="294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probabilità di ottenere la faccia con il </a:t>
            </a:r>
            <a:r>
              <a:rPr lang="en-US" sz="56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numero 4 </a:t>
            </a:r>
            <a:r>
              <a:rPr lang="en-US" sz="56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è pari a ...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44807" y="7848716"/>
            <a:ext cx="232395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p(4)=1/6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271614" y="7459346"/>
            <a:ext cx="4384032" cy="23071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</a:pPr>
            <a:r>
              <a:rPr lang="en-US" sz="329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Probabilità come rapporto tra </a:t>
            </a:r>
          </a:p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sz="329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casi favorevoli e casi possibili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80281" y="1964510"/>
            <a:ext cx="3104339" cy="3583652"/>
          </a:xfrm>
          <a:custGeom>
            <a:avLst/>
            <a:gdLst/>
            <a:ahLst/>
            <a:cxnLst/>
            <a:rect l="l" t="t" r="r" b="b"/>
            <a:pathLst>
              <a:path w="3104339" h="3583652">
                <a:moveTo>
                  <a:pt x="0" y="0"/>
                </a:moveTo>
                <a:lnTo>
                  <a:pt x="3104338" y="0"/>
                </a:lnTo>
                <a:lnTo>
                  <a:pt x="3104338" y="3583652"/>
                </a:lnTo>
                <a:lnTo>
                  <a:pt x="0" y="3583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4789557" y="2292542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1"/>
                </a:lnTo>
                <a:lnTo>
                  <a:pt x="0" y="990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Freeform 5"/>
          <p:cNvSpPr/>
          <p:nvPr/>
        </p:nvSpPr>
        <p:spPr>
          <a:xfrm>
            <a:off x="4789557" y="4703748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2"/>
                </a:lnTo>
                <a:lnTo>
                  <a:pt x="0" y="990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Freeform 6"/>
          <p:cNvSpPr/>
          <p:nvPr/>
        </p:nvSpPr>
        <p:spPr>
          <a:xfrm>
            <a:off x="4789557" y="3512644"/>
            <a:ext cx="1019654" cy="1019654"/>
          </a:xfrm>
          <a:custGeom>
            <a:avLst/>
            <a:gdLst/>
            <a:ahLst/>
            <a:cxnLst/>
            <a:rect l="l" t="t" r="r" b="b"/>
            <a:pathLst>
              <a:path w="1019654" h="1019654">
                <a:moveTo>
                  <a:pt x="0" y="0"/>
                </a:moveTo>
                <a:lnTo>
                  <a:pt x="1019654" y="0"/>
                </a:lnTo>
                <a:lnTo>
                  <a:pt x="1019654" y="1019654"/>
                </a:lnTo>
                <a:lnTo>
                  <a:pt x="0" y="1019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7" name="TextBox 7"/>
          <p:cNvSpPr txBox="1"/>
          <p:nvPr/>
        </p:nvSpPr>
        <p:spPr>
          <a:xfrm>
            <a:off x="0" y="391160"/>
            <a:ext cx="10598768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 condizionata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37750" y="1330734"/>
            <a:ext cx="9618028" cy="195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7"/>
              </a:lnSpc>
              <a:spcBef>
                <a:spcPct val="0"/>
              </a:spcBef>
            </a:pPr>
            <a:r>
              <a:rPr lang="en-US" sz="561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Dal </a:t>
            </a:r>
            <a:r>
              <a:rPr lang="en-US" sz="561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lancio</a:t>
            </a:r>
            <a:r>
              <a:rPr lang="en-US" sz="561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del dado </a:t>
            </a:r>
            <a:r>
              <a:rPr lang="en-US" sz="561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è</a:t>
            </a:r>
            <a:r>
              <a:rPr lang="en-US" sz="561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561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risultato</a:t>
            </a:r>
            <a:r>
              <a:rPr lang="en-US" sz="561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un </a:t>
            </a:r>
            <a:r>
              <a:rPr lang="en-US" sz="561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numero</a:t>
            </a:r>
            <a:r>
              <a:rPr lang="en-US" sz="561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561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PARI</a:t>
            </a:r>
            <a:r>
              <a:rPr lang="en-US" sz="561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03088" y="3632511"/>
            <a:ext cx="9252690" cy="394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Data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questa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informazione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,  la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probabilità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che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la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faccia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uscita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sia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quella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con il </a:t>
            </a:r>
            <a:r>
              <a:rPr lang="en-US" sz="5600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numero</a:t>
            </a:r>
            <a:r>
              <a:rPr lang="en-US" sz="5600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 4 </a:t>
            </a:r>
            <a:r>
              <a:rPr lang="en-US" sz="5600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è</a:t>
            </a:r>
            <a:r>
              <a:rPr lang="en-US" sz="5600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pari a ...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380281" y="1964510"/>
            <a:ext cx="3104339" cy="3583652"/>
          </a:xfrm>
          <a:custGeom>
            <a:avLst/>
            <a:gdLst/>
            <a:ahLst/>
            <a:cxnLst/>
            <a:rect l="l" t="t" r="r" b="b"/>
            <a:pathLst>
              <a:path w="3104339" h="3583652">
                <a:moveTo>
                  <a:pt x="0" y="0"/>
                </a:moveTo>
                <a:lnTo>
                  <a:pt x="3104338" y="0"/>
                </a:lnTo>
                <a:lnTo>
                  <a:pt x="3104338" y="3583652"/>
                </a:lnTo>
                <a:lnTo>
                  <a:pt x="0" y="35836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4789557" y="2292542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1"/>
                </a:lnTo>
                <a:lnTo>
                  <a:pt x="0" y="99095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Freeform 5"/>
          <p:cNvSpPr/>
          <p:nvPr/>
        </p:nvSpPr>
        <p:spPr>
          <a:xfrm>
            <a:off x="4789557" y="4703748"/>
            <a:ext cx="990951" cy="990951"/>
          </a:xfrm>
          <a:custGeom>
            <a:avLst/>
            <a:gdLst/>
            <a:ahLst/>
            <a:cxnLst/>
            <a:rect l="l" t="t" r="r" b="b"/>
            <a:pathLst>
              <a:path w="990951" h="990951">
                <a:moveTo>
                  <a:pt x="0" y="0"/>
                </a:moveTo>
                <a:lnTo>
                  <a:pt x="990951" y="0"/>
                </a:lnTo>
                <a:lnTo>
                  <a:pt x="990951" y="990952"/>
                </a:lnTo>
                <a:lnTo>
                  <a:pt x="0" y="9909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Freeform 6"/>
          <p:cNvSpPr/>
          <p:nvPr/>
        </p:nvSpPr>
        <p:spPr>
          <a:xfrm>
            <a:off x="4789557" y="3512644"/>
            <a:ext cx="1019654" cy="1019654"/>
          </a:xfrm>
          <a:custGeom>
            <a:avLst/>
            <a:gdLst/>
            <a:ahLst/>
            <a:cxnLst/>
            <a:rect l="l" t="t" r="r" b="b"/>
            <a:pathLst>
              <a:path w="1019654" h="1019654">
                <a:moveTo>
                  <a:pt x="0" y="0"/>
                </a:moveTo>
                <a:lnTo>
                  <a:pt x="1019654" y="0"/>
                </a:lnTo>
                <a:lnTo>
                  <a:pt x="1019654" y="1019654"/>
                </a:lnTo>
                <a:lnTo>
                  <a:pt x="0" y="101965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7" name="TextBox 7"/>
          <p:cNvSpPr txBox="1"/>
          <p:nvPr/>
        </p:nvSpPr>
        <p:spPr>
          <a:xfrm>
            <a:off x="0" y="391160"/>
            <a:ext cx="10598768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Probabilità condizionata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37750" y="1330734"/>
            <a:ext cx="9618028" cy="19527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67"/>
              </a:lnSpc>
              <a:spcBef>
                <a:spcPct val="0"/>
              </a:spcBef>
            </a:pPr>
            <a:r>
              <a:rPr lang="en-US" sz="561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Dal lancio del dado è risultato un numero </a:t>
            </a:r>
            <a:r>
              <a:rPr lang="en-US" sz="5619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PARI</a:t>
            </a:r>
            <a:r>
              <a:rPr lang="en-US" sz="561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903088" y="3632511"/>
            <a:ext cx="9252690" cy="394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Data questa informazione,  la probabilità che la faccia  uscita sia quella con il </a:t>
            </a:r>
            <a:r>
              <a:rPr lang="en-US" sz="5600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numero 4 </a:t>
            </a:r>
            <a:r>
              <a:rPr lang="en-US" sz="56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è pari a ...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7964715"/>
            <a:ext cx="4053632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p(4 | PARI)=1/3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15330" y="3986552"/>
            <a:ext cx="3479802" cy="2979580"/>
          </a:xfrm>
          <a:custGeom>
            <a:avLst/>
            <a:gdLst/>
            <a:ahLst/>
            <a:cxnLst/>
            <a:rect l="l" t="t" r="r" b="b"/>
            <a:pathLst>
              <a:path w="3479802" h="2979580">
                <a:moveTo>
                  <a:pt x="0" y="0"/>
                </a:moveTo>
                <a:lnTo>
                  <a:pt x="3479802" y="0"/>
                </a:lnTo>
                <a:lnTo>
                  <a:pt x="3479802" y="2979581"/>
                </a:lnTo>
                <a:lnTo>
                  <a:pt x="0" y="297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5852665" y="4964192"/>
            <a:ext cx="3431450" cy="2432040"/>
          </a:xfrm>
          <a:custGeom>
            <a:avLst/>
            <a:gdLst/>
            <a:ahLst/>
            <a:cxnLst/>
            <a:rect l="l" t="t" r="r" b="b"/>
            <a:pathLst>
              <a:path w="3431450" h="2432040">
                <a:moveTo>
                  <a:pt x="0" y="0"/>
                </a:moveTo>
                <a:lnTo>
                  <a:pt x="3431451" y="0"/>
                </a:lnTo>
                <a:lnTo>
                  <a:pt x="3431451" y="2432040"/>
                </a:lnTo>
                <a:lnTo>
                  <a:pt x="0" y="2432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grpSp>
        <p:nvGrpSpPr>
          <p:cNvPr id="5" name="Group 5"/>
          <p:cNvGrpSpPr/>
          <p:nvPr/>
        </p:nvGrpSpPr>
        <p:grpSpPr>
          <a:xfrm>
            <a:off x="9739762" y="4596405"/>
            <a:ext cx="7064240" cy="1213140"/>
            <a:chOff x="0" y="0"/>
            <a:chExt cx="1860541" cy="3195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C1FF7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400685"/>
            <a:ext cx="12211054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Quanta gente abita a Bergamo?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93054" y="1633281"/>
            <a:ext cx="13629852" cy="273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45"/>
              </a:lnSpc>
            </a:pP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Dal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sito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u="sng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hlinkClick r:id="rId4" tooltip="https://demo.istat.it"/>
              </a:rPr>
              <a:t>https://demo.istat.it/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è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possibile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ottenere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la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popolazione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residente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nel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comune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XXX al </a:t>
            </a: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01/01/2026 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separatamente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per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genere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ed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età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). </a:t>
            </a:r>
          </a:p>
          <a:p>
            <a:pPr algn="just">
              <a:lnSpc>
                <a:spcPts val="5445"/>
              </a:lnSpc>
            </a:pP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Quante </a:t>
            </a:r>
            <a:r>
              <a:rPr lang="en-US" sz="3889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sono</a:t>
            </a: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 secondo </a:t>
            </a:r>
            <a:r>
              <a:rPr lang="en-US" sz="3889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voi</a:t>
            </a: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8265" y="4843882"/>
            <a:ext cx="392608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 100'000 persone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39762" y="6144044"/>
            <a:ext cx="7064240" cy="1213140"/>
            <a:chOff x="0" y="0"/>
            <a:chExt cx="1860541" cy="319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101218" y="6391522"/>
            <a:ext cx="5853708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100'000 - 200'000 persone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739762" y="7691684"/>
            <a:ext cx="7064240" cy="1213140"/>
            <a:chOff x="0" y="0"/>
            <a:chExt cx="1860541" cy="3195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00BF63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135523" y="7939161"/>
            <a:ext cx="399841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&gt; 200'000 persone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15330" y="3986552"/>
            <a:ext cx="3479802" cy="2979580"/>
          </a:xfrm>
          <a:custGeom>
            <a:avLst/>
            <a:gdLst/>
            <a:ahLst/>
            <a:cxnLst/>
            <a:rect l="l" t="t" r="r" b="b"/>
            <a:pathLst>
              <a:path w="3479802" h="2979580">
                <a:moveTo>
                  <a:pt x="0" y="0"/>
                </a:moveTo>
                <a:lnTo>
                  <a:pt x="3479802" y="0"/>
                </a:lnTo>
                <a:lnTo>
                  <a:pt x="3479802" y="2979581"/>
                </a:lnTo>
                <a:lnTo>
                  <a:pt x="0" y="297958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5852665" y="4964192"/>
            <a:ext cx="3431450" cy="2432040"/>
          </a:xfrm>
          <a:custGeom>
            <a:avLst/>
            <a:gdLst/>
            <a:ahLst/>
            <a:cxnLst/>
            <a:rect l="l" t="t" r="r" b="b"/>
            <a:pathLst>
              <a:path w="3431450" h="2432040">
                <a:moveTo>
                  <a:pt x="0" y="0"/>
                </a:moveTo>
                <a:lnTo>
                  <a:pt x="3431451" y="0"/>
                </a:lnTo>
                <a:lnTo>
                  <a:pt x="3431451" y="2432040"/>
                </a:lnTo>
                <a:lnTo>
                  <a:pt x="0" y="24320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grpSp>
        <p:nvGrpSpPr>
          <p:cNvPr id="5" name="Group 5"/>
          <p:cNvGrpSpPr/>
          <p:nvPr/>
        </p:nvGrpSpPr>
        <p:grpSpPr>
          <a:xfrm>
            <a:off x="9739762" y="4596405"/>
            <a:ext cx="7064240" cy="1213140"/>
            <a:chOff x="0" y="0"/>
            <a:chExt cx="1860541" cy="3195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C1FF72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0" y="400685"/>
            <a:ext cx="12211054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Quanta gente abita a Bergamo?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93054" y="1633281"/>
            <a:ext cx="13629852" cy="2730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445"/>
              </a:lnSpc>
            </a:pP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Dal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sito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u="sng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  <a:hlinkClick r:id="rId4" tooltip="https://demo.istat.it"/>
              </a:rPr>
              <a:t>https://demo.istat.it/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è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possibile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ottenere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la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popolazione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residente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nel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comune</a:t>
            </a:r>
            <a:r>
              <a:rPr lang="en-US" sz="388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XXX al </a:t>
            </a: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01/01/2024 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(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separatamente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per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genere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ed </a:t>
            </a:r>
            <a:r>
              <a:rPr lang="en-US" sz="388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età</a:t>
            </a:r>
            <a:r>
              <a:rPr lang="en-US" sz="388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). </a:t>
            </a:r>
          </a:p>
          <a:p>
            <a:pPr algn="just">
              <a:lnSpc>
                <a:spcPts val="5445"/>
              </a:lnSpc>
            </a:pP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Quante </a:t>
            </a:r>
            <a:r>
              <a:rPr lang="en-US" sz="3889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sono</a:t>
            </a: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 secondo </a:t>
            </a:r>
            <a:r>
              <a:rPr lang="en-US" sz="3889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voi</a:t>
            </a:r>
            <a:r>
              <a:rPr lang="en-US" sz="388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168265" y="4843882"/>
            <a:ext cx="392608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&lt; 100'000 persone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739762" y="6144044"/>
            <a:ext cx="7064240" cy="1213140"/>
            <a:chOff x="0" y="0"/>
            <a:chExt cx="1860541" cy="3195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7ED957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08746" y="6391522"/>
            <a:ext cx="5853708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D62028"/>
                </a:solidFill>
                <a:latin typeface="Rubik"/>
                <a:ea typeface="Rubik"/>
                <a:cs typeface="Rubik"/>
                <a:sym typeface="Rubik"/>
              </a:rPr>
              <a:t>100'000 - 200'000 persone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739762" y="7691684"/>
            <a:ext cx="7064240" cy="1213140"/>
            <a:chOff x="0" y="0"/>
            <a:chExt cx="1860541" cy="3195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60541" cy="319510"/>
            </a:xfrm>
            <a:custGeom>
              <a:avLst/>
              <a:gdLst/>
              <a:ahLst/>
              <a:cxnLst/>
              <a:rect l="l" t="t" r="r" b="b"/>
              <a:pathLst>
                <a:path w="1860541" h="319510">
                  <a:moveTo>
                    <a:pt x="0" y="0"/>
                  </a:moveTo>
                  <a:lnTo>
                    <a:pt x="1860541" y="0"/>
                  </a:lnTo>
                  <a:lnTo>
                    <a:pt x="1860541" y="319510"/>
                  </a:lnTo>
                  <a:lnTo>
                    <a:pt x="0" y="319510"/>
                  </a:lnTo>
                  <a:close/>
                </a:path>
              </a:pathLst>
            </a:custGeom>
            <a:solidFill>
              <a:srgbClr val="00BF63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IT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860541" cy="35761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135523" y="7939161"/>
            <a:ext cx="399841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&gt; 200'000 persone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749594" y="7531826"/>
            <a:ext cx="2596455" cy="97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5600" u="none" strike="noStrike">
                <a:solidFill>
                  <a:srgbClr val="D62028"/>
                </a:solidFill>
                <a:latin typeface="Rubik"/>
                <a:ea typeface="Rubik"/>
                <a:cs typeface="Rubik"/>
                <a:sym typeface="Rubik"/>
              </a:rPr>
              <a:t>120'629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5277717" y="2687575"/>
          <a:ext cx="10746840" cy="4911851"/>
        </p:xfrm>
        <a:graphic>
          <a:graphicData uri="http://schemas.openxmlformats.org/drawingml/2006/table">
            <a:tbl>
              <a:tblPr/>
              <a:tblGrid>
                <a:gridCol w="1874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81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6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3054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254455">
                <a:tc>
                  <a:txBody>
                    <a:bodyPr/>
                    <a:lstStyle/>
                    <a:p>
                      <a:pPr algn="ctr">
                        <a:lnSpc>
                          <a:spcPts val="47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132"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19"/>
                        </a:lnSpc>
                        <a:defRPr/>
                      </a:pPr>
                      <a:r>
                        <a:rPr lang="en-US" sz="37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132"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19132">
                <a:tc>
                  <a:txBody>
                    <a:bodyPr/>
                    <a:lstStyle/>
                    <a:p>
                      <a:pPr algn="ctr">
                        <a:lnSpc>
                          <a:spcPts val="6019"/>
                        </a:lnSpc>
                        <a:defRPr/>
                      </a:pPr>
                      <a:r>
                        <a:rPr lang="en-US" sz="42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5320"/>
                        </a:lnSpc>
                        <a:defRPr/>
                      </a:pPr>
                      <a:r>
                        <a:rPr lang="en-US" sz="38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Freeform 4"/>
          <p:cNvSpPr/>
          <p:nvPr/>
        </p:nvSpPr>
        <p:spPr>
          <a:xfrm>
            <a:off x="634785" y="1559717"/>
            <a:ext cx="3801046" cy="4114800"/>
          </a:xfrm>
          <a:custGeom>
            <a:avLst/>
            <a:gdLst/>
            <a:ahLst/>
            <a:cxnLst/>
            <a:rect l="l" t="t" r="r" b="b"/>
            <a:pathLst>
              <a:path w="3801046" h="4114800">
                <a:moveTo>
                  <a:pt x="0" y="0"/>
                </a:moveTo>
                <a:lnTo>
                  <a:pt x="3801046" y="0"/>
                </a:lnTo>
                <a:lnTo>
                  <a:pt x="380104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TextBox 5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Distribuzione di frequenza congiunta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90339" y="1925669"/>
            <a:ext cx="252159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 di età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3623130" y="4842096"/>
            <a:ext cx="207244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40556" y="5728982"/>
            <a:ext cx="1576288" cy="3152576"/>
          </a:xfrm>
          <a:custGeom>
            <a:avLst/>
            <a:gdLst/>
            <a:ahLst/>
            <a:cxnLst/>
            <a:rect l="l" t="t" r="r" b="b"/>
            <a:pathLst>
              <a:path w="1576288" h="3152576">
                <a:moveTo>
                  <a:pt x="0" y="0"/>
                </a:moveTo>
                <a:lnTo>
                  <a:pt x="1576288" y="0"/>
                </a:lnTo>
                <a:lnTo>
                  <a:pt x="1576288" y="3152577"/>
                </a:lnTo>
                <a:lnTo>
                  <a:pt x="0" y="315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Distribuzione di frequenza e 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78113" y="6357632"/>
            <a:ext cx="1515130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Quale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è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probabilità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selezionando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persona 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caso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quelle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residenti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questa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femminile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 di età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40556" y="5728982"/>
            <a:ext cx="1576288" cy="3152576"/>
          </a:xfrm>
          <a:custGeom>
            <a:avLst/>
            <a:gdLst/>
            <a:ahLst/>
            <a:cxnLst/>
            <a:rect l="l" t="t" r="r" b="b"/>
            <a:pathLst>
              <a:path w="1576288" h="3152576">
                <a:moveTo>
                  <a:pt x="0" y="0"/>
                </a:moveTo>
                <a:lnTo>
                  <a:pt x="1576288" y="0"/>
                </a:lnTo>
                <a:lnTo>
                  <a:pt x="1576288" y="3152577"/>
                </a:lnTo>
                <a:lnTo>
                  <a:pt x="0" y="315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Distribuzione di frequenza e 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78113" y="6357632"/>
            <a:ext cx="1515130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Quale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è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probabilità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selezionando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persona 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caso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quelle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residenti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questa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femminile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45077" y="7889881"/>
            <a:ext cx="758309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p(F)=62'993/120'629=0.522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 di età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240556" y="5728982"/>
            <a:ext cx="1576288" cy="3152576"/>
          </a:xfrm>
          <a:custGeom>
            <a:avLst/>
            <a:gdLst/>
            <a:ahLst/>
            <a:cxnLst/>
            <a:rect l="l" t="t" r="r" b="b"/>
            <a:pathLst>
              <a:path w="1576288" h="3152576">
                <a:moveTo>
                  <a:pt x="0" y="0"/>
                </a:moveTo>
                <a:lnTo>
                  <a:pt x="1576288" y="0"/>
                </a:lnTo>
                <a:lnTo>
                  <a:pt x="1576288" y="3152577"/>
                </a:lnTo>
                <a:lnTo>
                  <a:pt x="0" y="315257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Distribuzione di frequenza e 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378113" y="6357632"/>
            <a:ext cx="1515130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Quale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è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probabilità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che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selezionando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persona a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caso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quelle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residenti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,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questa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sia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di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3399" b="1" dirty="0" err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femminile</a:t>
            </a:r>
            <a:r>
              <a:rPr lang="en-US" sz="33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45077" y="7889881"/>
            <a:ext cx="7583091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p(F)=62'993/120'629=0.522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 di età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13607899" y="7735143"/>
            <a:ext cx="4384032" cy="114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07"/>
              </a:lnSpc>
              <a:spcBef>
                <a:spcPct val="0"/>
              </a:spcBef>
            </a:pPr>
            <a:r>
              <a:rPr lang="en-US" sz="3290">
                <a:solidFill>
                  <a:srgbClr val="000000"/>
                </a:solidFill>
                <a:latin typeface="Frankfurter Highlight"/>
                <a:ea typeface="Frankfurter Highlight"/>
                <a:cs typeface="Frankfurter Highlight"/>
                <a:sym typeface="Frankfurter Highlight"/>
              </a:rPr>
              <a:t>Probabilità come proporzione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71675" y="5539307"/>
            <a:ext cx="1297689" cy="3604693"/>
          </a:xfrm>
          <a:custGeom>
            <a:avLst/>
            <a:gdLst/>
            <a:ahLst/>
            <a:cxnLst/>
            <a:rect l="l" t="t" r="r" b="b"/>
            <a:pathLst>
              <a:path w="1297689" h="3604693">
                <a:moveTo>
                  <a:pt x="0" y="0"/>
                </a:moveTo>
                <a:lnTo>
                  <a:pt x="1297689" y="0"/>
                </a:lnTo>
                <a:lnTo>
                  <a:pt x="1297689" y="3604693"/>
                </a:lnTo>
                <a:lnTo>
                  <a:pt x="0" y="3604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Distribuzione di frequenza e 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2765" y="6283017"/>
            <a:ext cx="1569457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Sapendo di aver selezionato una persona di genere femminile, quale è la probabilità che appartenga alla classe di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età 15-64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 di età</a:t>
            </a:r>
          </a:p>
        </p:txBody>
      </p:sp>
      <p:sp>
        <p:nvSpPr>
          <p:cNvPr id="7" name="TextBox 7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</a:p>
        </p:txBody>
      </p:sp>
      <p:graphicFrame>
        <p:nvGraphicFramePr>
          <p:cNvPr id="8" name="Table 8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471675" y="5539307"/>
            <a:ext cx="1297689" cy="3604693"/>
          </a:xfrm>
          <a:custGeom>
            <a:avLst/>
            <a:gdLst/>
            <a:ahLst/>
            <a:cxnLst/>
            <a:rect l="l" t="t" r="r" b="b"/>
            <a:pathLst>
              <a:path w="1297689" h="3604693">
                <a:moveTo>
                  <a:pt x="0" y="0"/>
                </a:moveTo>
                <a:lnTo>
                  <a:pt x="1297689" y="0"/>
                </a:lnTo>
                <a:lnTo>
                  <a:pt x="1297689" y="3604693"/>
                </a:lnTo>
                <a:lnTo>
                  <a:pt x="0" y="36046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83160"/>
            <a:ext cx="1480473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Distribuzione di frequenza e probabilità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32765" y="6283017"/>
            <a:ext cx="1569457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Sapendo di aver selezionato una persona di genere femminile, quale è la probabilità che appartenga alla classe di </a:t>
            </a: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età 15-64</a:t>
            </a: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?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430665" y="7977832"/>
            <a:ext cx="9611916" cy="797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439"/>
              </a:lnSpc>
              <a:spcBef>
                <a:spcPct val="0"/>
              </a:spcBef>
            </a:pPr>
            <a:r>
              <a:rPr lang="en-US" sz="4599" u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p(15-64 | F) = 38'475/ 62'993 = 0.61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342523" y="1533648"/>
            <a:ext cx="1822185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Classi di età</a:t>
            </a:r>
          </a:p>
        </p:txBody>
      </p:sp>
      <p:sp>
        <p:nvSpPr>
          <p:cNvPr id="8" name="TextBox 8"/>
          <p:cNvSpPr txBox="1"/>
          <p:nvPr/>
        </p:nvSpPr>
        <p:spPr>
          <a:xfrm rot="-5400000">
            <a:off x="4179994" y="3636110"/>
            <a:ext cx="1497613" cy="4093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9"/>
              </a:lnSpc>
            </a:pPr>
            <a:r>
              <a:rPr lang="en-US" sz="2456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Genere</a:t>
            </a:r>
          </a:p>
        </p:txBody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5475484" y="2219200"/>
          <a:ext cx="8322506" cy="3886200"/>
        </p:xfrm>
        <a:graphic>
          <a:graphicData uri="http://schemas.openxmlformats.org/drawingml/2006/table">
            <a:tbl>
              <a:tblPr/>
              <a:tblGrid>
                <a:gridCol w="14520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48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45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85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0-14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899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15-64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65+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M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39"/>
                        </a:lnSpc>
                        <a:defRPr/>
                      </a:pPr>
                      <a:r>
                        <a:rPr lang="en-US" sz="2599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6'855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37'881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12'900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57'636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F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6'480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38'475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18'038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62'993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1550">
                <a:tc>
                  <a:txBody>
                    <a:bodyPr/>
                    <a:lstStyle/>
                    <a:p>
                      <a:pPr algn="ctr">
                        <a:lnSpc>
                          <a:spcPts val="4060"/>
                        </a:lnSpc>
                        <a:defRPr/>
                      </a:pPr>
                      <a:r>
                        <a:rPr lang="en-US" sz="2900" b="1">
                          <a:solidFill>
                            <a:srgbClr val="000000"/>
                          </a:solidFill>
                          <a:latin typeface="Rubik Bold"/>
                          <a:ea typeface="Rubik Bold"/>
                          <a:cs typeface="Rubik Bold"/>
                          <a:sym typeface="Rubik Bold"/>
                        </a:rPr>
                        <a:t>TOT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13'335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76'356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30'938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Rubik"/>
                          <a:ea typeface="Rubik"/>
                          <a:cs typeface="Rubik"/>
                          <a:sym typeface="Rubik"/>
                        </a:rPr>
                        <a:t>120'629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6C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748752" y="686578"/>
            <a:ext cx="2501658" cy="2779620"/>
          </a:xfrm>
          <a:custGeom>
            <a:avLst/>
            <a:gdLst/>
            <a:ahLst/>
            <a:cxnLst/>
            <a:rect l="l" t="t" r="r" b="b"/>
            <a:pathLst>
              <a:path w="2501658" h="2779620">
                <a:moveTo>
                  <a:pt x="0" y="0"/>
                </a:moveTo>
                <a:lnTo>
                  <a:pt x="2501658" y="0"/>
                </a:lnTo>
                <a:lnTo>
                  <a:pt x="2501658" y="2779619"/>
                </a:lnTo>
                <a:lnTo>
                  <a:pt x="0" y="27796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3760238" y="4537892"/>
            <a:ext cx="5977028" cy="5439095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10186542" y="7478136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6" y="0"/>
                </a:lnTo>
                <a:lnTo>
                  <a:pt x="2976806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Freeform 5"/>
          <p:cNvSpPr/>
          <p:nvPr/>
        </p:nvSpPr>
        <p:spPr>
          <a:xfrm>
            <a:off x="3977120" y="5432762"/>
            <a:ext cx="5660718" cy="5660718"/>
          </a:xfrm>
          <a:custGeom>
            <a:avLst/>
            <a:gdLst/>
            <a:ahLst/>
            <a:cxnLst/>
            <a:rect l="l" t="t" r="r" b="b"/>
            <a:pathLst>
              <a:path w="5660718" h="5660718">
                <a:moveTo>
                  <a:pt x="0" y="0"/>
                </a:moveTo>
                <a:lnTo>
                  <a:pt x="5660719" y="0"/>
                </a:lnTo>
                <a:lnTo>
                  <a:pt x="5660719" y="5660719"/>
                </a:lnTo>
                <a:lnTo>
                  <a:pt x="0" y="56607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TextBox 6"/>
          <p:cNvSpPr txBox="1"/>
          <p:nvPr/>
        </p:nvSpPr>
        <p:spPr>
          <a:xfrm>
            <a:off x="-1366938" y="514984"/>
            <a:ext cx="732162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Statistica!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61068" y="1547432"/>
            <a:ext cx="2605534" cy="88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80" lvl="1" indent="-550540" algn="ctr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099" u="none" strike="noStrike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Dati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06093" y="4200097"/>
            <a:ext cx="10441413" cy="132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9"/>
              </a:lnSpc>
            </a:pPr>
            <a:r>
              <a:rPr lang="en-US" sz="3799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2. Modello statistico che impara (training)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678897" y="6637409"/>
            <a:ext cx="5609103" cy="132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3. output modello allenato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197504" y="1540765"/>
            <a:ext cx="5275107" cy="9410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33" lvl="1" indent="-291467" algn="l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1 Variabile target</a:t>
            </a:r>
          </a:p>
          <a:p>
            <a:pPr marL="582933" lvl="1" indent="-291467" algn="l">
              <a:lnSpc>
                <a:spcPts val="3780"/>
              </a:lnSpc>
              <a:spcBef>
                <a:spcPct val="0"/>
              </a:spcBef>
              <a:buFont typeface="Arial"/>
              <a:buChar char="•"/>
            </a:pPr>
            <a:r>
              <a:rPr lang="en-US" sz="270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Tante variabili esplicative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051134" y="8186922"/>
            <a:ext cx="3208166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Previsione (</a:t>
            </a:r>
            <a:r>
              <a:rPr lang="en-US" sz="3399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probabilità condizionata</a:t>
            </a: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3941742" y="2027977"/>
            <a:ext cx="3317558" cy="4114800"/>
          </a:xfrm>
          <a:custGeom>
            <a:avLst/>
            <a:gdLst/>
            <a:ahLst/>
            <a:cxnLst/>
            <a:rect l="l" t="t" r="r" b="b"/>
            <a:pathLst>
              <a:path w="3317558" h="4114800">
                <a:moveTo>
                  <a:pt x="0" y="0"/>
                </a:moveTo>
                <a:lnTo>
                  <a:pt x="3317558" y="0"/>
                </a:lnTo>
                <a:lnTo>
                  <a:pt x="331755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5984845" y="3086100"/>
            <a:ext cx="6318311" cy="4114800"/>
          </a:xfrm>
          <a:custGeom>
            <a:avLst/>
            <a:gdLst/>
            <a:ahLst/>
            <a:cxnLst/>
            <a:rect l="l" t="t" r="r" b="b"/>
            <a:pathLst>
              <a:path w="6318311" h="4114800">
                <a:moveTo>
                  <a:pt x="0" y="0"/>
                </a:moveTo>
                <a:lnTo>
                  <a:pt x="6318310" y="0"/>
                </a:lnTo>
                <a:lnTo>
                  <a:pt x="63183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Freeform 5"/>
          <p:cNvSpPr/>
          <p:nvPr/>
        </p:nvSpPr>
        <p:spPr>
          <a:xfrm>
            <a:off x="1647741" y="5529709"/>
            <a:ext cx="5549775" cy="3614291"/>
          </a:xfrm>
          <a:custGeom>
            <a:avLst/>
            <a:gdLst/>
            <a:ahLst/>
            <a:cxnLst/>
            <a:rect l="l" t="t" r="r" b="b"/>
            <a:pathLst>
              <a:path w="5549775" h="3614291">
                <a:moveTo>
                  <a:pt x="0" y="0"/>
                </a:moveTo>
                <a:lnTo>
                  <a:pt x="5549775" y="0"/>
                </a:lnTo>
                <a:lnTo>
                  <a:pt x="5549775" y="3614291"/>
                </a:lnTo>
                <a:lnTo>
                  <a:pt x="0" y="3614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TextBox 6"/>
          <p:cNvSpPr txBox="1"/>
          <p:nvPr/>
        </p:nvSpPr>
        <p:spPr>
          <a:xfrm>
            <a:off x="-508221" y="514984"/>
            <a:ext cx="13406425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Altri problemi di classificazione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1951777"/>
            <a:ext cx="11734651" cy="3590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Email spam vs email sicura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Transazione della carta di credito fraudolenta vs sicura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Azienda in default vs benessere economico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Cliente soddisfatta/o vs non soddisfatta/o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Serie TV di gradimento vs non di gradimento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28292A"/>
                </a:solidFill>
                <a:latin typeface="Rubik"/>
                <a:ea typeface="Rubik"/>
                <a:cs typeface="Rubik"/>
                <a:sym typeface="Rubik"/>
              </a:rPr>
              <a:t>...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249590" y="6532499"/>
            <a:ext cx="6346076" cy="1425811"/>
            <a:chOff x="0" y="0"/>
            <a:chExt cx="8461435" cy="1901081"/>
          </a:xfrm>
        </p:grpSpPr>
        <p:sp>
          <p:nvSpPr>
            <p:cNvPr id="9" name="TextBox 9"/>
            <p:cNvSpPr txBox="1"/>
            <p:nvPr/>
          </p:nvSpPr>
          <p:spPr>
            <a:xfrm>
              <a:off x="0" y="613893"/>
              <a:ext cx="8461435" cy="12871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68"/>
                </a:lnSpc>
              </a:pPr>
              <a:r>
                <a:rPr lang="en-US" sz="7835" spc="-235">
                  <a:solidFill>
                    <a:srgbClr val="CD623A"/>
                  </a:solidFill>
                  <a:latin typeface="Frankfurter Highlight"/>
                  <a:ea typeface="Frankfurter Highlight"/>
                  <a:cs typeface="Frankfurter Highlight"/>
                  <a:sym typeface="Frankfurter Highlight"/>
                </a:rPr>
                <a:t>Statistici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61925"/>
              <a:ext cx="8461435" cy="68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48"/>
                </a:lnSpc>
              </a:pPr>
              <a:r>
                <a:rPr lang="en-US" sz="4186">
                  <a:solidFill>
                    <a:srgbClr val="CD623A"/>
                  </a:solidFill>
                  <a:latin typeface="Borel"/>
                  <a:ea typeface="Borel"/>
                  <a:cs typeface="Borel"/>
                  <a:sym typeface="Borel"/>
                </a:rPr>
                <a:t>Modelli 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7993817" y="5644009"/>
            <a:ext cx="5549775" cy="3614291"/>
          </a:xfrm>
          <a:custGeom>
            <a:avLst/>
            <a:gdLst/>
            <a:ahLst/>
            <a:cxnLst/>
            <a:rect l="l" t="t" r="r" b="b"/>
            <a:pathLst>
              <a:path w="5549775" h="3614291">
                <a:moveTo>
                  <a:pt x="0" y="0"/>
                </a:moveTo>
                <a:lnTo>
                  <a:pt x="5549775" y="0"/>
                </a:lnTo>
                <a:lnTo>
                  <a:pt x="5549775" y="3614291"/>
                </a:lnTo>
                <a:lnTo>
                  <a:pt x="0" y="36142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grpSp>
        <p:nvGrpSpPr>
          <p:cNvPr id="12" name="Group 12"/>
          <p:cNvGrpSpPr/>
          <p:nvPr/>
        </p:nvGrpSpPr>
        <p:grpSpPr>
          <a:xfrm>
            <a:off x="7437943" y="6340265"/>
            <a:ext cx="6346076" cy="2221780"/>
            <a:chOff x="0" y="0"/>
            <a:chExt cx="8461435" cy="296237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613893"/>
              <a:ext cx="8461435" cy="23484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68"/>
                </a:lnSpc>
              </a:pPr>
              <a:r>
                <a:rPr lang="en-US" sz="7835" spc="-235">
                  <a:solidFill>
                    <a:srgbClr val="CD623A"/>
                  </a:solidFill>
                  <a:latin typeface="Frankfurter Highlight"/>
                  <a:ea typeface="Frankfurter Highlight"/>
                  <a:cs typeface="Frankfurter Highlight"/>
                  <a:sym typeface="Frankfurter Highlight"/>
                </a:rPr>
                <a:t>MACHINE LEARNING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61925"/>
              <a:ext cx="8461435" cy="68633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48"/>
                </a:lnSpc>
              </a:pPr>
              <a:r>
                <a:rPr lang="en-US" sz="4186">
                  <a:solidFill>
                    <a:srgbClr val="CD623A"/>
                  </a:solidFill>
                  <a:latin typeface="Borel"/>
                  <a:ea typeface="Borel"/>
                  <a:cs typeface="Borel"/>
                  <a:sym typeface="Borel"/>
                </a:rPr>
                <a:t> Algoritmi di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3480416" y="680833"/>
            <a:ext cx="14006264" cy="7904525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 rot="-5400000">
            <a:off x="-1550208" y="3758225"/>
            <a:ext cx="7431881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Time to play!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066599" y="563020"/>
            <a:ext cx="2501658" cy="2779620"/>
          </a:xfrm>
          <a:custGeom>
            <a:avLst/>
            <a:gdLst/>
            <a:ahLst/>
            <a:cxnLst/>
            <a:rect l="l" t="t" r="r" b="b"/>
            <a:pathLst>
              <a:path w="2501658" h="2779620">
                <a:moveTo>
                  <a:pt x="0" y="0"/>
                </a:moveTo>
                <a:lnTo>
                  <a:pt x="2501658" y="0"/>
                </a:lnTo>
                <a:lnTo>
                  <a:pt x="2501658" y="2779620"/>
                </a:lnTo>
                <a:lnTo>
                  <a:pt x="0" y="27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626230" y="4118099"/>
            <a:ext cx="5977028" cy="5439095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7655597" y="6172270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6" y="0"/>
                </a:lnTo>
                <a:lnTo>
                  <a:pt x="2976806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Freeform 5"/>
          <p:cNvSpPr/>
          <p:nvPr/>
        </p:nvSpPr>
        <p:spPr>
          <a:xfrm>
            <a:off x="1047750" y="563020"/>
            <a:ext cx="2170298" cy="2246104"/>
          </a:xfrm>
          <a:custGeom>
            <a:avLst/>
            <a:gdLst/>
            <a:ahLst/>
            <a:cxnLst/>
            <a:rect l="l" t="t" r="r" b="b"/>
            <a:pathLst>
              <a:path w="2170298" h="2246104">
                <a:moveTo>
                  <a:pt x="0" y="0"/>
                </a:moveTo>
                <a:lnTo>
                  <a:pt x="2170298" y="0"/>
                </a:lnTo>
                <a:lnTo>
                  <a:pt x="2170298" y="2246105"/>
                </a:lnTo>
                <a:lnTo>
                  <a:pt x="0" y="22461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Freeform 6"/>
          <p:cNvSpPr/>
          <p:nvPr/>
        </p:nvSpPr>
        <p:spPr>
          <a:xfrm>
            <a:off x="776303" y="5294430"/>
            <a:ext cx="6152824" cy="6137442"/>
          </a:xfrm>
          <a:custGeom>
            <a:avLst/>
            <a:gdLst/>
            <a:ahLst/>
            <a:cxnLst/>
            <a:rect l="l" t="t" r="r" b="b"/>
            <a:pathLst>
              <a:path w="6152824" h="6137442">
                <a:moveTo>
                  <a:pt x="0" y="0"/>
                </a:moveTo>
                <a:lnTo>
                  <a:pt x="6152823" y="0"/>
                </a:lnTo>
                <a:lnTo>
                  <a:pt x="6152823" y="6137441"/>
                </a:lnTo>
                <a:lnTo>
                  <a:pt x="0" y="6137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7" name="TextBox 7"/>
          <p:cNvSpPr txBox="1"/>
          <p:nvPr/>
        </p:nvSpPr>
        <p:spPr>
          <a:xfrm>
            <a:off x="7410619" y="1583944"/>
            <a:ext cx="2765795" cy="880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101080" lvl="1" indent="-550540" algn="ctr">
              <a:lnSpc>
                <a:spcPts val="7139"/>
              </a:lnSpc>
              <a:spcBef>
                <a:spcPct val="0"/>
              </a:spcBef>
              <a:buAutoNum type="arabicPeriod"/>
            </a:pPr>
            <a:r>
              <a:rPr lang="en-US" sz="5099" u="none" strike="noStrike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Dati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86281" y="4032374"/>
            <a:ext cx="7461750" cy="1322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2. </a:t>
            </a:r>
            <a:r>
              <a:rPr lang="en-US" sz="3799" u="none" strike="noStrike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Modello statistico (training)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42197" y="6505821"/>
            <a:ext cx="6884810" cy="23903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Probabilità </a:t>
            </a:r>
            <a:r>
              <a:rPr lang="en-US" sz="3399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condizionata</a:t>
            </a: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di </a:t>
            </a:r>
            <a:r>
              <a:rPr lang="en-US" sz="3399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vincere la partita</a:t>
            </a: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in base alle caratteristiche della vostra squadra e di quella avversaria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437362" y="854598"/>
            <a:ext cx="7028695" cy="2129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endParaRPr/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Variabile target: partita vinta/persa</a:t>
            </a:r>
          </a:p>
          <a:p>
            <a:pPr marL="626112" lvl="1" indent="-313056" algn="just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caratteristiche delle due squadre</a:t>
            </a:r>
          </a:p>
          <a:p>
            <a:pPr algn="l">
              <a:lnSpc>
                <a:spcPts val="4060"/>
              </a:lnSpc>
            </a:pPr>
            <a:endParaRPr lang="en-US" sz="290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176413" y="5668508"/>
            <a:ext cx="7550593" cy="6559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319"/>
              </a:lnSpc>
              <a:spcBef>
                <a:spcPct val="0"/>
              </a:spcBef>
            </a:pPr>
            <a:r>
              <a:rPr lang="en-US" sz="3799">
                <a:solidFill>
                  <a:srgbClr val="28292A"/>
                </a:solidFill>
                <a:latin typeface="Archive"/>
                <a:ea typeface="Archive"/>
                <a:cs typeface="Archive"/>
                <a:sym typeface="Archive"/>
              </a:rPr>
              <a:t>3. output modello allenato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/>
          <a:stretch>
            <a:fillRect/>
          </a:stretch>
        </p:blipFill>
        <p:spPr>
          <a:xfrm>
            <a:off x="10326786" y="3052499"/>
            <a:ext cx="7410213" cy="4182001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3954044" y="509128"/>
            <a:ext cx="11639550" cy="11772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59"/>
              </a:lnSpc>
              <a:spcBef>
                <a:spcPct val="0"/>
              </a:spcBef>
            </a:pPr>
            <a:r>
              <a:rPr lang="en-US" sz="6899">
                <a:solidFill>
                  <a:srgbClr val="CD623A"/>
                </a:solidFill>
                <a:latin typeface="Blueberry Outline"/>
                <a:ea typeface="Blueberry Outline"/>
                <a:cs typeface="Blueberry Outline"/>
                <a:sym typeface="Blueberry Outline"/>
              </a:rPr>
              <a:t>Formate la vostra squadra!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47518" y="2976299"/>
            <a:ext cx="8681380" cy="512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76"/>
              </a:lnSpc>
            </a:pPr>
            <a:r>
              <a:rPr lang="en-US" sz="3625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Vi chiederemo: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nome della squadra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quante donne ci sono in squadra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età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bravura (da 0 a 10)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frequenza di gioco durante l’anno</a:t>
            </a:r>
          </a:p>
          <a:p>
            <a:pPr marL="782850" lvl="1" indent="-391425" algn="l">
              <a:lnSpc>
                <a:spcPts val="5076"/>
              </a:lnSpc>
              <a:buFont typeface="Arial"/>
              <a:buChar char="•"/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se giocate nel ruolo preferito (si/no)</a:t>
            </a:r>
          </a:p>
          <a:p>
            <a:pPr algn="l">
              <a:lnSpc>
                <a:spcPts val="5076"/>
              </a:lnSpc>
              <a:spcBef>
                <a:spcPct val="0"/>
              </a:spcBef>
            </a:pPr>
            <a:r>
              <a:rPr lang="en-US" sz="3625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+ registreremo chi fa il primo goal</a:t>
            </a:r>
          </a:p>
        </p:txBody>
      </p:sp>
      <p:sp>
        <p:nvSpPr>
          <p:cNvPr id="6" name="Freeform 6"/>
          <p:cNvSpPr/>
          <p:nvPr/>
        </p:nvSpPr>
        <p:spPr>
          <a:xfrm>
            <a:off x="10326786" y="7565505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7" y="0"/>
                </a:lnTo>
                <a:lnTo>
                  <a:pt x="2976807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7" name="TextBox 7"/>
          <p:cNvSpPr txBox="1"/>
          <p:nvPr/>
        </p:nvSpPr>
        <p:spPr>
          <a:xfrm>
            <a:off x="13303593" y="7824917"/>
            <a:ext cx="4016166" cy="1783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66"/>
              </a:lnSpc>
            </a:pP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Il nostro </a:t>
            </a:r>
            <a:r>
              <a:rPr lang="en-US" sz="2547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modello</a:t>
            </a: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547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stimerà</a:t>
            </a: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la </a:t>
            </a:r>
            <a:r>
              <a:rPr lang="en-US" sz="2547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vostra</a:t>
            </a: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2547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probabilità</a:t>
            </a: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di </a:t>
            </a:r>
            <a:r>
              <a:rPr lang="en-US" sz="2547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vincere</a:t>
            </a: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la partita</a:t>
            </a:r>
          </a:p>
          <a:p>
            <a:pPr algn="ctr">
              <a:lnSpc>
                <a:spcPts val="3566"/>
              </a:lnSpc>
              <a:spcBef>
                <a:spcPct val="0"/>
              </a:spcBef>
            </a:pP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(</a:t>
            </a:r>
            <a:r>
              <a:rPr lang="en-US" sz="2547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al </a:t>
            </a:r>
            <a:r>
              <a:rPr lang="en-US" sz="2547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meglio</a:t>
            </a:r>
            <a:r>
              <a:rPr lang="en-US" sz="2547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 </a:t>
            </a:r>
            <a:r>
              <a:rPr lang="en-US" sz="2547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dei</a:t>
            </a:r>
            <a:r>
              <a:rPr lang="en-US" sz="2547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 3 goal</a:t>
            </a:r>
            <a:r>
              <a:rPr lang="en-US" sz="2547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67836" y="-4644995"/>
            <a:ext cx="20373561" cy="20118891"/>
          </a:xfrm>
          <a:custGeom>
            <a:avLst/>
            <a:gdLst/>
            <a:ahLst/>
            <a:cxnLst/>
            <a:rect l="l" t="t" r="r" b="b"/>
            <a:pathLst>
              <a:path w="20373561" h="20118891">
                <a:moveTo>
                  <a:pt x="0" y="0"/>
                </a:moveTo>
                <a:lnTo>
                  <a:pt x="20373561" y="0"/>
                </a:lnTo>
                <a:lnTo>
                  <a:pt x="20373561" y="20118891"/>
                </a:lnTo>
                <a:lnTo>
                  <a:pt x="0" y="20118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3" name="Freeform 3"/>
          <p:cNvSpPr/>
          <p:nvPr/>
        </p:nvSpPr>
        <p:spPr>
          <a:xfrm>
            <a:off x="9793646" y="1385534"/>
            <a:ext cx="2976806" cy="2359119"/>
          </a:xfrm>
          <a:custGeom>
            <a:avLst/>
            <a:gdLst/>
            <a:ahLst/>
            <a:cxnLst/>
            <a:rect l="l" t="t" r="r" b="b"/>
            <a:pathLst>
              <a:path w="2976806" h="2359119">
                <a:moveTo>
                  <a:pt x="0" y="0"/>
                </a:moveTo>
                <a:lnTo>
                  <a:pt x="2976807" y="0"/>
                </a:lnTo>
                <a:lnTo>
                  <a:pt x="2976807" y="2359119"/>
                </a:lnTo>
                <a:lnTo>
                  <a:pt x="0" y="23591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8318945" y="1430713"/>
            <a:ext cx="1312776" cy="2339023"/>
          </a:xfrm>
          <a:custGeom>
            <a:avLst/>
            <a:gdLst/>
            <a:ahLst/>
            <a:cxnLst/>
            <a:rect l="l" t="t" r="r" b="b"/>
            <a:pathLst>
              <a:path w="1312776" h="2339023">
                <a:moveTo>
                  <a:pt x="0" y="0"/>
                </a:moveTo>
                <a:lnTo>
                  <a:pt x="1312776" y="0"/>
                </a:lnTo>
                <a:lnTo>
                  <a:pt x="1312776" y="2339023"/>
                </a:lnTo>
                <a:lnTo>
                  <a:pt x="0" y="2339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Freeform 5"/>
          <p:cNvSpPr/>
          <p:nvPr/>
        </p:nvSpPr>
        <p:spPr>
          <a:xfrm>
            <a:off x="13809221" y="6083971"/>
            <a:ext cx="3267350" cy="2683311"/>
          </a:xfrm>
          <a:custGeom>
            <a:avLst/>
            <a:gdLst/>
            <a:ahLst/>
            <a:cxnLst/>
            <a:rect l="l" t="t" r="r" b="b"/>
            <a:pathLst>
              <a:path w="3267350" h="2683311">
                <a:moveTo>
                  <a:pt x="0" y="0"/>
                </a:moveTo>
                <a:lnTo>
                  <a:pt x="3267350" y="0"/>
                </a:lnTo>
                <a:lnTo>
                  <a:pt x="3267350" y="2683311"/>
                </a:lnTo>
                <a:lnTo>
                  <a:pt x="0" y="268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Freeform 6"/>
          <p:cNvSpPr/>
          <p:nvPr/>
        </p:nvSpPr>
        <p:spPr>
          <a:xfrm>
            <a:off x="636341" y="1474781"/>
            <a:ext cx="2944903" cy="3939670"/>
          </a:xfrm>
          <a:custGeom>
            <a:avLst/>
            <a:gdLst/>
            <a:ahLst/>
            <a:cxnLst/>
            <a:rect l="l" t="t" r="r" b="b"/>
            <a:pathLst>
              <a:path w="2944903" h="3939670">
                <a:moveTo>
                  <a:pt x="0" y="0"/>
                </a:moveTo>
                <a:lnTo>
                  <a:pt x="2944903" y="0"/>
                </a:lnTo>
                <a:lnTo>
                  <a:pt x="2944903" y="3939670"/>
                </a:lnTo>
                <a:lnTo>
                  <a:pt x="0" y="39396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7" name="TextBox 7"/>
          <p:cNvSpPr txBox="1"/>
          <p:nvPr/>
        </p:nvSpPr>
        <p:spPr>
          <a:xfrm>
            <a:off x="12935677" y="1631961"/>
            <a:ext cx="5014439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Probabilità condizionata per la squadra A di vincere la partita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8378" y="48259"/>
            <a:ext cx="7952842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Per ogni partita...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81244" y="1654551"/>
            <a:ext cx="5014439" cy="17900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Esito osservato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Vittoria o sconfitta per la squadra 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00400" y="5892419"/>
            <a:ext cx="8798383" cy="30342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La </a:t>
            </a:r>
            <a:r>
              <a:rPr lang="en-US" sz="3399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differenza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(</a:t>
            </a:r>
            <a:r>
              <a:rPr lang="en-US" sz="339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Delta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) </a:t>
            </a: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tra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</a:p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l’esito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osservato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e</a:t>
            </a:r>
          </a:p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la </a:t>
            </a: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probabilità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stimata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dal </a:t>
            </a: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modello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</a:p>
          <a:p>
            <a:pPr algn="ctr">
              <a:lnSpc>
                <a:spcPts val="4759"/>
              </a:lnSpc>
            </a:pP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rappresenta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una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</a:t>
            </a:r>
            <a:r>
              <a:rPr lang="en-US" sz="3399" dirty="0" err="1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misura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 di</a:t>
            </a:r>
          </a:p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“</a:t>
            </a:r>
            <a:r>
              <a:rPr lang="en-US" sz="3399" b="1" dirty="0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performance rispetto alle </a:t>
            </a:r>
            <a:r>
              <a:rPr lang="en-US" sz="3399" b="1" dirty="0" err="1">
                <a:solidFill>
                  <a:srgbClr val="000000"/>
                </a:solidFill>
                <a:latin typeface="Rubik Bold"/>
                <a:ea typeface="Rubik Bold"/>
                <a:cs typeface="Rubik Bold"/>
                <a:sym typeface="Rubik Bold"/>
              </a:rPr>
              <a:t>attese</a:t>
            </a:r>
            <a:r>
              <a:rPr lang="en-US" sz="3399" dirty="0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”.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85561" y="-5197568"/>
            <a:ext cx="20373561" cy="20118891"/>
          </a:xfrm>
          <a:custGeom>
            <a:avLst/>
            <a:gdLst/>
            <a:ahLst/>
            <a:cxnLst/>
            <a:rect l="l" t="t" r="r" b="b"/>
            <a:pathLst>
              <a:path w="20373561" h="20118891">
                <a:moveTo>
                  <a:pt x="0" y="0"/>
                </a:moveTo>
                <a:lnTo>
                  <a:pt x="20373561" y="0"/>
                </a:lnTo>
                <a:lnTo>
                  <a:pt x="20373561" y="20118891"/>
                </a:lnTo>
                <a:lnTo>
                  <a:pt x="0" y="2011889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Freeform 4"/>
          <p:cNvSpPr/>
          <p:nvPr/>
        </p:nvSpPr>
        <p:spPr>
          <a:xfrm>
            <a:off x="4177310" y="1220478"/>
            <a:ext cx="6747789" cy="6629703"/>
          </a:xfrm>
          <a:custGeom>
            <a:avLst/>
            <a:gdLst/>
            <a:ahLst/>
            <a:cxnLst/>
            <a:rect l="l" t="t" r="r" b="b"/>
            <a:pathLst>
              <a:path w="6747789" h="6629703">
                <a:moveTo>
                  <a:pt x="0" y="0"/>
                </a:moveTo>
                <a:lnTo>
                  <a:pt x="6747789" y="0"/>
                </a:lnTo>
                <a:lnTo>
                  <a:pt x="6747789" y="6629703"/>
                </a:lnTo>
                <a:lnTo>
                  <a:pt x="0" y="66297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5" name="TextBox 5"/>
          <p:cNvSpPr txBox="1"/>
          <p:nvPr/>
        </p:nvSpPr>
        <p:spPr>
          <a:xfrm>
            <a:off x="0" y="-114300"/>
            <a:ext cx="6314014" cy="9131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Schema play-off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10825225" y="1103957"/>
            <a:ext cx="4250640" cy="6862744"/>
          </a:xfrm>
          <a:custGeom>
            <a:avLst/>
            <a:gdLst/>
            <a:ahLst/>
            <a:cxnLst/>
            <a:rect l="l" t="t" r="r" b="b"/>
            <a:pathLst>
              <a:path w="4250640" h="6862744">
                <a:moveTo>
                  <a:pt x="0" y="0"/>
                </a:moveTo>
                <a:lnTo>
                  <a:pt x="4250640" y="0"/>
                </a:lnTo>
                <a:lnTo>
                  <a:pt x="4250640" y="6862744"/>
                </a:lnTo>
                <a:lnTo>
                  <a:pt x="0" y="686274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210" r="-64673"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7" name="TextBox 7"/>
          <p:cNvSpPr txBox="1"/>
          <p:nvPr/>
        </p:nvSpPr>
        <p:spPr>
          <a:xfrm>
            <a:off x="4624530" y="1153803"/>
            <a:ext cx="416421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590076" y="3187177"/>
            <a:ext cx="485329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8°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590076" y="5126411"/>
            <a:ext cx="482352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58599" y="7065646"/>
            <a:ext cx="474464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5°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218172" y="1153803"/>
            <a:ext cx="476845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2°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256049" y="3187177"/>
            <a:ext cx="461516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7°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187290" y="5217272"/>
            <a:ext cx="478185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3°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145246" y="7247368"/>
            <a:ext cx="500509" cy="629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66800" y="8463615"/>
            <a:ext cx="16435839" cy="719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 b="1" dirty="0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Passa il </a:t>
            </a:r>
            <a:r>
              <a:rPr lang="en-US" sz="4299" b="1" dirty="0" err="1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turno</a:t>
            </a:r>
            <a:r>
              <a:rPr lang="en-US" sz="4299" b="1" dirty="0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la </a:t>
            </a:r>
            <a:r>
              <a:rPr lang="en-US" sz="4299" b="1" dirty="0" err="1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squadra</a:t>
            </a:r>
            <a:r>
              <a:rPr lang="en-US" sz="4299" b="1" dirty="0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299" b="1" dirty="0" err="1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che</a:t>
            </a:r>
            <a:r>
              <a:rPr lang="en-US" sz="4299" b="1" dirty="0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ha il </a:t>
            </a:r>
            <a:r>
              <a:rPr lang="en-US" sz="4299" b="1" dirty="0" err="1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valore</a:t>
            </a:r>
            <a:r>
              <a:rPr lang="en-US" sz="4299" b="1" dirty="0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di Delta </a:t>
            </a:r>
            <a:r>
              <a:rPr lang="en-US" sz="4299" b="1" dirty="0" err="1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più</a:t>
            </a:r>
            <a:r>
              <a:rPr lang="en-US" sz="4299" b="1" dirty="0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  <a:r>
              <a:rPr lang="en-US" sz="4299" b="1" dirty="0" err="1">
                <a:solidFill>
                  <a:srgbClr val="CD623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elevato</a:t>
            </a:r>
            <a:endParaRPr lang="en-US" sz="4299" b="1" dirty="0">
              <a:solidFill>
                <a:srgbClr val="CD623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687141" y="2091704"/>
            <a:ext cx="5143500" cy="4114800"/>
          </a:xfrm>
          <a:custGeom>
            <a:avLst/>
            <a:gdLst/>
            <a:ahLst/>
            <a:cxnLst/>
            <a:rect l="l" t="t" r="r" b="b"/>
            <a:pathLst>
              <a:path w="5143500" h="4114800">
                <a:moveTo>
                  <a:pt x="0" y="0"/>
                </a:moveTo>
                <a:lnTo>
                  <a:pt x="5143500" y="0"/>
                </a:lnTo>
                <a:lnTo>
                  <a:pt x="51435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4" name="TextBox 4"/>
          <p:cNvSpPr txBox="1"/>
          <p:nvPr/>
        </p:nvSpPr>
        <p:spPr>
          <a:xfrm>
            <a:off x="0" y="391160"/>
            <a:ext cx="7741700" cy="10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19"/>
              </a:lnSpc>
              <a:spcBef>
                <a:spcPct val="0"/>
              </a:spcBef>
            </a:pPr>
            <a:r>
              <a:rPr lang="en-US" sz="5799" b="1">
                <a:solidFill>
                  <a:srgbClr val="3461AA"/>
                </a:solidFill>
                <a:latin typeface="Rubik Bold"/>
                <a:ea typeface="Rubik Bold"/>
                <a:cs typeface="Rubik Bold"/>
                <a:sym typeface="Rubik Bold"/>
              </a:rPr>
              <a:t>Questionario POST</a:t>
            </a:r>
          </a:p>
        </p:txBody>
      </p:sp>
      <p:sp>
        <p:nvSpPr>
          <p:cNvPr id="5" name="Freeform 5"/>
          <p:cNvSpPr/>
          <p:nvPr/>
        </p:nvSpPr>
        <p:spPr>
          <a:xfrm>
            <a:off x="12907824" y="6411781"/>
            <a:ext cx="2636209" cy="2188053"/>
          </a:xfrm>
          <a:custGeom>
            <a:avLst/>
            <a:gdLst/>
            <a:ahLst/>
            <a:cxnLst/>
            <a:rect l="l" t="t" r="r" b="b"/>
            <a:pathLst>
              <a:path w="2636209" h="2188053">
                <a:moveTo>
                  <a:pt x="0" y="0"/>
                </a:moveTo>
                <a:lnTo>
                  <a:pt x="2636209" y="0"/>
                </a:lnTo>
                <a:lnTo>
                  <a:pt x="2636209" y="2188053"/>
                </a:lnTo>
                <a:lnTo>
                  <a:pt x="0" y="21880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6" name="Freeform 6"/>
          <p:cNvSpPr/>
          <p:nvPr/>
        </p:nvSpPr>
        <p:spPr>
          <a:xfrm>
            <a:off x="4748429" y="1980742"/>
            <a:ext cx="4424879" cy="6203102"/>
          </a:xfrm>
          <a:custGeom>
            <a:avLst/>
            <a:gdLst/>
            <a:ahLst/>
            <a:cxnLst/>
            <a:rect l="l" t="t" r="r" b="b"/>
            <a:pathLst>
              <a:path w="4424879" h="6203102">
                <a:moveTo>
                  <a:pt x="0" y="0"/>
                </a:moveTo>
                <a:lnTo>
                  <a:pt x="4424879" y="0"/>
                </a:lnTo>
                <a:lnTo>
                  <a:pt x="4424879" y="6203102"/>
                </a:lnTo>
                <a:lnTo>
                  <a:pt x="0" y="620310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T"/>
          </a:p>
        </p:txBody>
      </p:sp>
      <p:sp>
        <p:nvSpPr>
          <p:cNvPr id="7" name="TextBox 7"/>
          <p:cNvSpPr txBox="1"/>
          <p:nvPr/>
        </p:nvSpPr>
        <p:spPr>
          <a:xfrm>
            <a:off x="5949267" y="3099351"/>
            <a:ext cx="2571218" cy="17900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  <a:spcBef>
                <a:spcPct val="0"/>
              </a:spcBef>
            </a:pPr>
            <a:r>
              <a:rPr lang="en-US" sz="3400">
                <a:solidFill>
                  <a:srgbClr val="3461AA"/>
                </a:solidFill>
                <a:latin typeface="Rubik"/>
                <a:ea typeface="Rubik"/>
                <a:cs typeface="Rubik"/>
                <a:sym typeface="Rubik"/>
              </a:rPr>
              <a:t>Includere il QRcode dell’indagine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946</Words>
  <Application>Microsoft Macintosh PowerPoint</Application>
  <PresentationFormat>Custom</PresentationFormat>
  <Paragraphs>252</Paragraphs>
  <Slides>27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Frankfurter Highlight</vt:lpstr>
      <vt:lpstr>Arial</vt:lpstr>
      <vt:lpstr>Rubik</vt:lpstr>
      <vt:lpstr>Rubik Bold</vt:lpstr>
      <vt:lpstr>Blueberry Outline</vt:lpstr>
      <vt:lpstr>Archive</vt:lpstr>
      <vt:lpstr>Canva Sans</vt:lpstr>
      <vt:lpstr>Canva Sans Bold</vt:lpstr>
      <vt:lpstr>Borel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Introductory_lecture_ITA.pptx</dc:title>
  <cp:lastModifiedBy>Michela Cameletti</cp:lastModifiedBy>
  <cp:revision>5</cp:revision>
  <dcterms:created xsi:type="dcterms:W3CDTF">2006-08-16T00:00:00Z</dcterms:created>
  <dcterms:modified xsi:type="dcterms:W3CDTF">2026-08-28T15:02:31Z</dcterms:modified>
  <dc:identifier>DAHTlqfpmVc</dc:identifier>
</cp:coreProperties>
</file>